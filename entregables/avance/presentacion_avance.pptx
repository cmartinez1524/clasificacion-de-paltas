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Clasificación del estado de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madurez de paltas Hass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348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AE8C8"/>
                </a:solidFill>
                <a:latin typeface="Calibri"/>
              </a:rPr>
              <a:t>ResNet-50 frente a ViT-S/16 con presupuesto equiparado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2D6AE"/>
                </a:solidFill>
                <a:latin typeface="Calibri"/>
              </a:rPr>
              <a:t>Cristóbal Martínez  ·  Avance · 28 de septiembre de 2026</a:t>
            </a:r>
          </a:p>
          <a:p>
            <a:pPr algn="l"/>
            <a:r>
              <a:rPr sz="1400" b="0">
                <a:solidFill>
                  <a:srgbClr val="C2D6AE"/>
                </a:solidFill>
                <a:latin typeface="Calibri"/>
              </a:rPr>
              <a:t>14.710 fotografías · 478 frutas · índice de madurez de 5 niveles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E6B2F"/>
                </a:solidFill>
                <a:latin typeface="Calibri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9098"/>
                </a:solidFill>
                <a:latin typeface="Calibri"/>
              </a:rPr>
              <a:t>Por qué importa acá y no solo en el paper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371600" cy="32004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FB339"/>
                </a:solidFill>
              </a:rPr>
              <a:t>▪  </a:t>
            </a:r>
            <a:r>
              <a:rPr sz="1700" b="1">
                <a:solidFill>
                  <a:srgbClr val="444A52"/>
                </a:solidFill>
              </a:rPr>
              <a:t>Chile exporta paltas Hass con una ventana de madurez muy estrecha.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FB339"/>
                </a:solidFill>
              </a:rPr>
              <a:t>▪  </a:t>
            </a:r>
            <a:r>
              <a:rPr sz="1700" b="0">
                <a:solidFill>
                  <a:srgbClr val="444A52"/>
                </a:solidFill>
              </a:rPr>
              <a:t>La clasificación se hace hoy a ojo y al tacto, operario por operario.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FB339"/>
                </a:solidFill>
              </a:rPr>
              <a:t>▪  </a:t>
            </a:r>
            <a:r>
              <a:rPr sz="1700" b="0">
                <a:solidFill>
                  <a:srgbClr val="444A52"/>
                </a:solidFill>
              </a:rPr>
              <a:t>Dos costos simétricos: fruta verde en góndola (el consumidor la descarta) y fruta pasada en tránsito (pérdida total).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FB339"/>
                </a:solidFill>
              </a:rPr>
              <a:t>▪  </a:t>
            </a:r>
            <a:r>
              <a:rPr sz="1700" b="1">
                <a:solidFill>
                  <a:srgbClr val="444A52"/>
                </a:solidFill>
              </a:rPr>
              <a:t>La tarea es ordinal, no categórica: 1 &lt; 2 &lt; 3 &lt; 4 &lt; 5.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FB339"/>
                </a:solidFill>
              </a:rPr>
              <a:t>▪  </a:t>
            </a:r>
            <a:r>
              <a:rPr sz="1700" b="0">
                <a:solidFill>
                  <a:srgbClr val="444A52"/>
                </a:solidFill>
              </a:rPr>
              <a:t>Confundir un estado 1 con un 2 es un error de un día. Confundir un 1 con un 5 es mandar fruta podrida a la venta.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764792"/>
          <a:ext cx="4754880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80"/>
                <a:gridCol w="158496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Índice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Verde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Dejar madurar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Iniciando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Lista en 2-3 días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Maduro I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Venta inmediata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Maduro II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Último día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Sobremaduro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Fuera de punto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6144768"/>
            <a:ext cx="45720" cy="384048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1264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8A9098"/>
                </a:solidFill>
                <a:latin typeface="Calibri"/>
              </a:rPr>
              <a:t>La métrica tiene que castigar más los errores lejanos. La accuracy plana no lo hace.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35508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098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E6B2F"/>
                </a:solidFill>
                <a:latin typeface="Calibri"/>
              </a:rPr>
              <a:t>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9098"/>
                </a:solidFill>
                <a:latin typeface="Calibri"/>
              </a:rPr>
              <a:t>Hass Avocado Ripening Photographic Dataset · Mendeley, CC BY 4.0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371600" cy="32004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2615184" cy="1371600"/>
          </a:xfrm>
          <a:prstGeom prst="rect">
            <a:avLst/>
          </a:prstGeom>
          <a:solidFill>
            <a:srgbClr val="F6F7F4"/>
          </a:solidFill>
          <a:ln w="12700">
            <a:solidFill>
              <a:srgbClr val="DD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627632"/>
            <a:ext cx="50292" cy="1371600"/>
          </a:xfrm>
          <a:prstGeom prst="rect">
            <a:avLst/>
          </a:prstGeom>
          <a:solidFill>
            <a:srgbClr val="2E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73936"/>
            <a:ext cx="22037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098"/>
                </a:solidFill>
                <a:latin typeface="Calibri"/>
              </a:rPr>
              <a:t>IMÁGENES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220370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E6B2F"/>
                </a:solidFill>
                <a:latin typeface="Calibri"/>
              </a:rPr>
              <a:t>14.710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32304"/>
            <a:ext cx="2203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098"/>
                </a:solidFill>
                <a:latin typeface="Calibri"/>
              </a:rPr>
              <a:t>800×800 px, JPEG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1627632"/>
            <a:ext cx="2615184" cy="1371600"/>
          </a:xfrm>
          <a:prstGeom prst="rect">
            <a:avLst/>
          </a:prstGeom>
          <a:solidFill>
            <a:srgbClr val="F6F7F4"/>
          </a:solidFill>
          <a:ln w="12700">
            <a:solidFill>
              <a:srgbClr val="DD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456432" y="1627632"/>
            <a:ext cx="50292" cy="13716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1773936"/>
            <a:ext cx="22037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098"/>
                </a:solidFill>
                <a:latin typeface="Calibri"/>
              </a:rPr>
              <a:t>FRUTAS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2103120"/>
            <a:ext cx="220370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6FB2"/>
                </a:solidFill>
                <a:latin typeface="Calibri"/>
              </a:rPr>
              <a:t>478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2432304"/>
            <a:ext cx="2203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098"/>
                </a:solidFill>
                <a:latin typeface="Calibri"/>
              </a:rPr>
              <a:t>seguidas hasta 26 días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1627632"/>
            <a:ext cx="2615184" cy="1371600"/>
          </a:xfrm>
          <a:prstGeom prst="rect">
            <a:avLst/>
          </a:prstGeom>
          <a:solidFill>
            <a:srgbClr val="F6F7F4"/>
          </a:solidFill>
          <a:ln w="12700">
            <a:solidFill>
              <a:srgbClr val="DD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72784" y="1627632"/>
            <a:ext cx="50292" cy="13716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773936"/>
            <a:ext cx="22037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098"/>
                </a:solidFill>
                <a:latin typeface="Calibri"/>
              </a:rPr>
              <a:t>CLASES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103120"/>
            <a:ext cx="220370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6A4C93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432304"/>
            <a:ext cx="2203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098"/>
                </a:solidFill>
                <a:latin typeface="Calibri"/>
              </a:rPr>
              <a:t>índice de madurez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9136" y="1627632"/>
            <a:ext cx="2615184" cy="1371600"/>
          </a:xfrm>
          <a:prstGeom prst="rect">
            <a:avLst/>
          </a:prstGeom>
          <a:solidFill>
            <a:srgbClr val="F6F7F4"/>
          </a:solidFill>
          <a:ln w="12700">
            <a:solidFill>
              <a:srgbClr val="DD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089136" y="1627632"/>
            <a:ext cx="50292" cy="13716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5168" y="1773936"/>
            <a:ext cx="22037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098"/>
                </a:solidFill>
                <a:latin typeface="Calibri"/>
              </a:rPr>
              <a:t>GRUPOS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2103120"/>
            <a:ext cx="220370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D1495B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2432304"/>
            <a:ext cx="2203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098"/>
                </a:solidFill>
                <a:latin typeface="Calibri"/>
              </a:rPr>
              <a:t>10 °C · 20 °C · ambiente</a:t>
            </a:r>
          </a:p>
        </p:txBody>
      </p:sp>
      <p:pic>
        <p:nvPicPr>
          <p:cNvPr id="25" name="Picture 24" descr="01_distribucion_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429" y="3227832"/>
            <a:ext cx="6546837" cy="27889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40080" y="6144768"/>
            <a:ext cx="45720" cy="384048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61264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8A9098"/>
                </a:solidFill>
                <a:latin typeface="Calibri"/>
              </a:rPr>
              <a:t>Xavier, Rodrigues &amp; Silva (2024) · DOI 10.17632/3xd9n945v8.1 · Etiquetado visual experto, sin acuerdo inter-evaluador reportado.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40135" y="635508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098"/>
                </a:solidFill>
                <a:latin typeface="Calibri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E6B2F"/>
                </a:solidFill>
                <a:latin typeface="Calibri"/>
              </a:rPr>
              <a:t>El riesgo que define 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9098"/>
                </a:solidFill>
                <a:latin typeface="Calibri"/>
              </a:rPr>
              <a:t>Fuga de datos longitudinal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371600" cy="32004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 b="1">
                <a:solidFill>
                  <a:srgbClr val="8FB339"/>
                </a:solidFill>
              </a:rPr>
              <a:t>▪  </a:t>
            </a:r>
            <a:r>
              <a:rPr sz="1500" b="1">
                <a:solidFill>
                  <a:srgbClr val="444A52"/>
                </a:solidFill>
              </a:rPr>
              <a:t>La misma palta fue fotografiada a diario durante hasta 26 días.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8FB339"/>
                </a:solidFill>
              </a:rPr>
              <a:t>▪  </a:t>
            </a:r>
            <a:r>
              <a:rPr sz="1500" b="0">
                <a:solidFill>
                  <a:srgbClr val="444A52"/>
                </a:solidFill>
              </a:rPr>
              <a:t>Dos fotos consecutivas de la fruta #173 son casi idénticas: misma piel, mismas manchas, misma forma.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8FB339"/>
                </a:solidFill>
              </a:rPr>
              <a:t>▪  </a:t>
            </a:r>
            <a:r>
              <a:rPr sz="1500" b="1">
                <a:solidFill>
                  <a:srgbClr val="444A52"/>
                </a:solidFill>
              </a:rPr>
              <a:t>Un split aleatorio por imagen pondría el día 5 en train y el día 6 en test.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8FB339"/>
                </a:solidFill>
              </a:rPr>
              <a:t>▪  </a:t>
            </a:r>
            <a:r>
              <a:rPr sz="1500" b="0">
                <a:solidFill>
                  <a:srgbClr val="444A52"/>
                </a:solidFill>
              </a:rPr>
              <a:t>El modelo reconocería la fruta, no el estado de madurez. La métrica sería alta y completamente falsa.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8FB339"/>
                </a:solidFill>
              </a:rPr>
              <a:t>▪  </a:t>
            </a:r>
            <a:r>
              <a:rPr sz="1500" b="0">
                <a:solidFill>
                  <a:srgbClr val="444A52"/>
                </a:solidFill>
              </a:rPr>
              <a:t>Hay 6.871 pares de días consecutivos de la misma fruta en el dataset.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8FB339"/>
                </a:solidFill>
              </a:rPr>
              <a:t>▪  </a:t>
            </a:r>
            <a:r>
              <a:rPr sz="1500" b="1">
                <a:solidFill>
                  <a:srgbClr val="444A52"/>
                </a:solidFill>
              </a:rPr>
              <a:t>Partimos las 478 frutas, no las 14.710 imágenes.</a:t>
            </a:r>
          </a:p>
        </p:txBody>
      </p:sp>
      <p:pic>
        <p:nvPicPr>
          <p:cNvPr id="6" name="Picture 5" descr="04_parti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542032"/>
            <a:ext cx="4937760" cy="173110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144768"/>
            <a:ext cx="45720" cy="384048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1264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8A9098"/>
                </a:solidFill>
                <a:latin typeface="Calibri"/>
              </a:rPr>
              <a:t>Estratificado por grupo de almacenamiento · assert en el código que falla si una fruta aparece en dos particiones.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35508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098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E6B2F"/>
                </a:solidFill>
                <a:latin typeface="Calibri"/>
              </a:rPr>
              <a:t>Diseño de la comparación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9098"/>
                </a:solidFill>
                <a:latin typeface="Calibri"/>
              </a:rPr>
              <a:t>Comparar sin igualar el presupuesto no dice nada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371600" cy="32004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27632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2418080"/>
                <a:gridCol w="2901696"/>
                <a:gridCol w="1934464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Eje igualado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ResNet-50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ViT-S/16 (DeiT-S)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Diferencia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44A52"/>
                          </a:solidFill>
                          <a:latin typeface="Calibri"/>
                        </a:rPr>
                        <a:t>Parámetros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A52"/>
                          </a:solidFill>
                          <a:latin typeface="Calibri"/>
                        </a:rPr>
                        <a:t>23.52 M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A52"/>
                          </a:solidFill>
                          <a:latin typeface="Calibri"/>
                        </a:rPr>
                        <a:t>21.67 M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A52"/>
                          </a:solidFill>
                          <a:latin typeface="Calibri"/>
                        </a:rPr>
                        <a:t>7.9 %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44A52"/>
                          </a:solidFill>
                          <a:latin typeface="Calibri"/>
                        </a:rPr>
                        <a:t>GFLOPs @ 224 px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A52"/>
                          </a:solidFill>
                          <a:latin typeface="Calibri"/>
                        </a:rPr>
                        <a:t>8.17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A52"/>
                          </a:solidFill>
                          <a:latin typeface="Calibri"/>
                        </a:rPr>
                        <a:t>8.48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A52"/>
                          </a:solidFill>
                          <a:latin typeface="Calibri"/>
                        </a:rPr>
                        <a:t>3.6 %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44A52"/>
                          </a:solidFill>
                          <a:latin typeface="Calibri"/>
                        </a:rPr>
                        <a:t>Pre-entrenamiento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A52"/>
                          </a:solidFill>
                          <a:latin typeface="Calibri"/>
                        </a:rPr>
                        <a:t>ImageNet-1k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A52"/>
                          </a:solidFill>
                          <a:latin typeface="Calibri"/>
                        </a:rPr>
                        <a:t>ImageNet-1k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A52"/>
                          </a:solidFill>
                          <a:latin typeface="Calibri"/>
                        </a:rPr>
                        <a:t>ninguna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776472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 b="1">
                <a:solidFill>
                  <a:srgbClr val="8FB339"/>
                </a:solidFill>
              </a:rPr>
              <a:t>▪  </a:t>
            </a:r>
            <a:r>
              <a:rPr sz="1500" b="1">
                <a:solidFill>
                  <a:srgbClr val="444A52"/>
                </a:solidFill>
              </a:rPr>
              <a:t>El tercer eje es el que casi nadie iguala y el que más distorsiona.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8FB339"/>
                </a:solidFill>
              </a:rPr>
              <a:t>▪  </a:t>
            </a:r>
            <a:r>
              <a:rPr sz="1500" b="0">
                <a:solidFill>
                  <a:srgbClr val="444A52"/>
                </a:solidFill>
              </a:rPr>
              <a:t>Los pesos ViT-S más usados de timm vienen de ImageNet-21k: catorce veces más datos que los de la ResNet. Con esos pesos la comparación mediría el corpus de pre-entrenamiento, no la arquitectura.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8FB339"/>
                </a:solidFill>
              </a:rPr>
              <a:t>▪  </a:t>
            </a:r>
            <a:r>
              <a:rPr sz="1500" b="0">
                <a:solidFill>
                  <a:srgbClr val="444A52"/>
                </a:solidFill>
              </a:rPr>
              <a:t>Usamos DeiT-S: misma arquitectura ViT-S/16, entrenado solo en ImageNet-1k.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8FB339"/>
                </a:solidFill>
              </a:rPr>
              <a:t>▪  </a:t>
            </a:r>
            <a:r>
              <a:rPr sz="1500" b="0">
                <a:solidFill>
                  <a:srgbClr val="444A52"/>
                </a:solidFill>
              </a:rPr>
              <a:t>Receta idéntica. Solo cambia lo que tiene que cambiar: el ViT usa LR 3× menor, warmup más largo y drop_path 0,1, porque diverge con la receta de la CNN.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144768"/>
            <a:ext cx="45720" cy="384048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1264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8A9098"/>
                </a:solidFill>
                <a:latin typeface="Calibri"/>
              </a:rPr>
              <a:t>Igualar el learning rate «por justicia» no sería más justo: solo sería peor para el ViT.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35508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098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97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0" b="1">
                <a:solidFill>
                  <a:srgbClr val="8FB339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834640"/>
            <a:ext cx="8778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E6B2F"/>
                </a:solidFill>
                <a:latin typeface="Calibri"/>
              </a:rPr>
              <a:t>Resultados preliminares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0135" y="635508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098"/>
                </a:solidFill>
                <a:latin typeface="Calibri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E6B2F"/>
                </a:solidFill>
                <a:latin typeface="Calibri"/>
              </a:rPr>
              <a:t>Baseline ResNet-50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9098"/>
                </a:solidFill>
                <a:latin typeface="Calibri"/>
              </a:rPr>
              <a:t>23.52 M parámetros · 8.17 GFLOPs · 10 min de entrenamiento · mejor época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371600" cy="32004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2066543" cy="1417320"/>
          </a:xfrm>
          <a:prstGeom prst="rect">
            <a:avLst/>
          </a:prstGeom>
          <a:solidFill>
            <a:srgbClr val="F6F7F4"/>
          </a:solidFill>
          <a:ln w="12700">
            <a:solidFill>
              <a:srgbClr val="DD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627632"/>
            <a:ext cx="50292" cy="14173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73936"/>
            <a:ext cx="1655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098"/>
                </a:solidFill>
                <a:latin typeface="Calibri"/>
              </a:rPr>
              <a:t>QWK (principal)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165506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6FB2"/>
                </a:solidFill>
                <a:latin typeface="Calibri"/>
              </a:rPr>
              <a:t>0.936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78024"/>
            <a:ext cx="16550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098"/>
                </a:solidFill>
                <a:latin typeface="Calibri"/>
              </a:rPr>
              <a:t>kappa cuadrático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1215" y="1627632"/>
            <a:ext cx="2066543" cy="1417320"/>
          </a:xfrm>
          <a:prstGeom prst="rect">
            <a:avLst/>
          </a:prstGeom>
          <a:solidFill>
            <a:srgbClr val="F6F7F4"/>
          </a:solidFill>
          <a:ln w="12700">
            <a:solidFill>
              <a:srgbClr val="DD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871215" y="1627632"/>
            <a:ext cx="50292" cy="14173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7247" y="1773936"/>
            <a:ext cx="1655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098"/>
                </a:solidFill>
                <a:latin typeface="Calibri"/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7" y="2103120"/>
            <a:ext cx="165506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6FB2"/>
                </a:solidFill>
                <a:latin typeface="Calibri"/>
              </a:rPr>
              <a:t>74.6 %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7" y="2478024"/>
            <a:ext cx="16550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098"/>
                </a:solidFill>
                <a:latin typeface="Calibri"/>
              </a:rPr>
              <a:t>5 clases exactas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2352" y="1627632"/>
            <a:ext cx="2066543" cy="1417320"/>
          </a:xfrm>
          <a:prstGeom prst="rect">
            <a:avLst/>
          </a:prstGeom>
          <a:solidFill>
            <a:srgbClr val="F6F7F4"/>
          </a:solidFill>
          <a:ln w="12700">
            <a:solidFill>
              <a:srgbClr val="DD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102352" y="1627632"/>
            <a:ext cx="50292" cy="14173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4" y="1773936"/>
            <a:ext cx="1655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098"/>
                </a:solidFill>
                <a:latin typeface="Calibri"/>
              </a:rPr>
              <a:t>ACC. ±1 CLASE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2103120"/>
            <a:ext cx="165506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6FB2"/>
                </a:solidFill>
                <a:latin typeface="Calibri"/>
              </a:rPr>
              <a:t>99.2 %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4" y="2478024"/>
            <a:ext cx="16550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098"/>
                </a:solidFill>
                <a:latin typeface="Calibri"/>
              </a:rPr>
              <a:t>utilidad operativa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3488" y="1627632"/>
            <a:ext cx="2066543" cy="1417320"/>
          </a:xfrm>
          <a:prstGeom prst="rect">
            <a:avLst/>
          </a:prstGeom>
          <a:solidFill>
            <a:srgbClr val="F6F7F4"/>
          </a:solidFill>
          <a:ln w="12700">
            <a:solidFill>
              <a:srgbClr val="DD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333488" y="1627632"/>
            <a:ext cx="50292" cy="14173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1773936"/>
            <a:ext cx="1655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098"/>
                </a:solidFill>
                <a:latin typeface="Calibri"/>
              </a:rPr>
              <a:t>MAE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103120"/>
            <a:ext cx="165506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6FB2"/>
                </a:solidFill>
                <a:latin typeface="Calibri"/>
              </a:rPr>
              <a:t>0.262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478024"/>
            <a:ext cx="16550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098"/>
                </a:solidFill>
                <a:latin typeface="Calibri"/>
              </a:rPr>
              <a:t>escalones de madurez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64624" y="1627632"/>
            <a:ext cx="2066543" cy="1417320"/>
          </a:xfrm>
          <a:prstGeom prst="rect">
            <a:avLst/>
          </a:prstGeom>
          <a:solidFill>
            <a:srgbClr val="F6F7F4"/>
          </a:solidFill>
          <a:ln w="12700">
            <a:solidFill>
              <a:srgbClr val="DD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564624" y="1627632"/>
            <a:ext cx="50292" cy="14173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0656" y="1773936"/>
            <a:ext cx="1655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098"/>
                </a:solidFill>
                <a:latin typeface="Calibri"/>
              </a:rPr>
              <a:t>MACRO-F1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0656" y="2103120"/>
            <a:ext cx="165506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6FB2"/>
                </a:solidFill>
                <a:latin typeface="Calibri"/>
              </a:rPr>
              <a:t>0.735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0656" y="2478024"/>
            <a:ext cx="16550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098"/>
                </a:solidFill>
                <a:latin typeface="Calibri"/>
              </a:rPr>
              <a:t>clases minoritarias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40080" y="3410712"/>
          <a:ext cx="512063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2823"/>
                <a:gridCol w="764274"/>
                <a:gridCol w="1146411"/>
                <a:gridCol w="91712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Grupo de almacenamiento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T10 · 10 °C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1350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75.3 %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0.259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T20 · 20 °C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466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75.1 %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0.249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Tamb · ambiente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446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71.8 %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0.285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6217920" y="3410712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00" b="1">
                <a:solidFill>
                  <a:srgbClr val="8FB339"/>
                </a:solidFill>
              </a:rPr>
              <a:t>▪  </a:t>
            </a:r>
            <a:r>
              <a:rPr sz="1400" b="0">
                <a:solidFill>
                  <a:srgbClr val="444A52"/>
                </a:solidFill>
              </a:rPr>
              <a:t>Los errores se concentran en clases adyacentes: 99.2 % cae en la clase correcta o en una vecina.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8FB339"/>
                </a:solidFill>
              </a:rPr>
              <a:t>▪  </a:t>
            </a:r>
            <a:r>
              <a:rPr sz="1400" b="0">
                <a:solidFill>
                  <a:srgbClr val="444A52"/>
                </a:solidFill>
              </a:rPr>
              <a:t>MAE de 0.26 escalones sobre una escala de 5.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8FB339"/>
                </a:solidFill>
              </a:rPr>
              <a:t>▪  </a:t>
            </a:r>
            <a:r>
              <a:rPr sz="1400" b="0">
                <a:solidFill>
                  <a:srgbClr val="444A52"/>
                </a:solidFill>
              </a:rPr>
              <a:t>El desempeño es homogéneo entre grupos de almacenamiento: el modelo no está explotando el sesgo «verde ⇒ refrigerada».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144768"/>
            <a:ext cx="45720" cy="384048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1264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8A9098"/>
                </a:solidFill>
                <a:latin typeface="Calibri"/>
              </a:rPr>
              <a:t>Evaluado sobre 2.262 imágenes de 72 frutas que ningún modelo vio durante el entrenamiento.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40135" y="635508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098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E6B2F"/>
                </a:solidFill>
                <a:latin typeface="Calibri"/>
              </a:rPr>
              <a:t>Baseline ViT-S/16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9098"/>
                </a:solidFill>
                <a:latin typeface="Calibri"/>
              </a:rPr>
              <a:t>21.67 M parámetros · 8.48 GFLOPs · 5 min de entrenamiento · mejor época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371600" cy="32004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2066543" cy="1417320"/>
          </a:xfrm>
          <a:prstGeom prst="rect">
            <a:avLst/>
          </a:prstGeom>
          <a:solidFill>
            <a:srgbClr val="F6F7F4"/>
          </a:solidFill>
          <a:ln w="12700">
            <a:solidFill>
              <a:srgbClr val="DD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627632"/>
            <a:ext cx="50292" cy="141732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73936"/>
            <a:ext cx="1655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098"/>
                </a:solidFill>
                <a:latin typeface="Calibri"/>
              </a:rPr>
              <a:t>QWK (principal)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165506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D1495B"/>
                </a:solidFill>
                <a:latin typeface="Calibri"/>
              </a:rPr>
              <a:t>0.931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78024"/>
            <a:ext cx="16550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098"/>
                </a:solidFill>
                <a:latin typeface="Calibri"/>
              </a:rPr>
              <a:t>kappa cuadrático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1215" y="1627632"/>
            <a:ext cx="2066543" cy="1417320"/>
          </a:xfrm>
          <a:prstGeom prst="rect">
            <a:avLst/>
          </a:prstGeom>
          <a:solidFill>
            <a:srgbClr val="F6F7F4"/>
          </a:solidFill>
          <a:ln w="12700">
            <a:solidFill>
              <a:srgbClr val="DD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871215" y="1627632"/>
            <a:ext cx="50292" cy="141732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7247" y="1773936"/>
            <a:ext cx="1655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098"/>
                </a:solidFill>
                <a:latin typeface="Calibri"/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7" y="2103120"/>
            <a:ext cx="165506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D1495B"/>
                </a:solidFill>
                <a:latin typeface="Calibri"/>
              </a:rPr>
              <a:t>72.2 %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7" y="2478024"/>
            <a:ext cx="16550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098"/>
                </a:solidFill>
                <a:latin typeface="Calibri"/>
              </a:rPr>
              <a:t>5 clases exactas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2352" y="1627632"/>
            <a:ext cx="2066543" cy="1417320"/>
          </a:xfrm>
          <a:prstGeom prst="rect">
            <a:avLst/>
          </a:prstGeom>
          <a:solidFill>
            <a:srgbClr val="F6F7F4"/>
          </a:solidFill>
          <a:ln w="12700">
            <a:solidFill>
              <a:srgbClr val="DD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102352" y="1627632"/>
            <a:ext cx="50292" cy="141732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4" y="1773936"/>
            <a:ext cx="1655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098"/>
                </a:solidFill>
                <a:latin typeface="Calibri"/>
              </a:rPr>
              <a:t>ACC. ±1 CLASE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2103120"/>
            <a:ext cx="165506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D1495B"/>
                </a:solidFill>
                <a:latin typeface="Calibri"/>
              </a:rPr>
              <a:t>99.5 %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4" y="2478024"/>
            <a:ext cx="16550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098"/>
                </a:solidFill>
                <a:latin typeface="Calibri"/>
              </a:rPr>
              <a:t>utilidad operativa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3488" y="1627632"/>
            <a:ext cx="2066543" cy="1417320"/>
          </a:xfrm>
          <a:prstGeom prst="rect">
            <a:avLst/>
          </a:prstGeom>
          <a:solidFill>
            <a:srgbClr val="F6F7F4"/>
          </a:solidFill>
          <a:ln w="12700">
            <a:solidFill>
              <a:srgbClr val="DD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333488" y="1627632"/>
            <a:ext cx="50292" cy="141732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1773936"/>
            <a:ext cx="1655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098"/>
                </a:solidFill>
                <a:latin typeface="Calibri"/>
              </a:rPr>
              <a:t>MAE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103120"/>
            <a:ext cx="165506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D1495B"/>
                </a:solidFill>
                <a:latin typeface="Calibri"/>
              </a:rPr>
              <a:t>0.282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478024"/>
            <a:ext cx="16550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098"/>
                </a:solidFill>
                <a:latin typeface="Calibri"/>
              </a:rPr>
              <a:t>escalones de madurez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64624" y="1627632"/>
            <a:ext cx="2066543" cy="1417320"/>
          </a:xfrm>
          <a:prstGeom prst="rect">
            <a:avLst/>
          </a:prstGeom>
          <a:solidFill>
            <a:srgbClr val="F6F7F4"/>
          </a:solidFill>
          <a:ln w="12700">
            <a:solidFill>
              <a:srgbClr val="DD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564624" y="1627632"/>
            <a:ext cx="50292" cy="141732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0656" y="1773936"/>
            <a:ext cx="1655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098"/>
                </a:solidFill>
                <a:latin typeface="Calibri"/>
              </a:rPr>
              <a:t>MACRO-F1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0656" y="2103120"/>
            <a:ext cx="165506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D1495B"/>
                </a:solidFill>
                <a:latin typeface="Calibri"/>
              </a:rPr>
              <a:t>0.711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0656" y="2478024"/>
            <a:ext cx="16550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098"/>
                </a:solidFill>
                <a:latin typeface="Calibri"/>
              </a:rPr>
              <a:t>clases minoritarias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40080" y="3410712"/>
          <a:ext cx="512063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2823"/>
                <a:gridCol w="764274"/>
                <a:gridCol w="1146411"/>
                <a:gridCol w="91712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Grupo de almacenamiento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T10 · 10 °C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1350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73.9 %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0.267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T20 · 20 °C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466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68.7 %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0.318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Tamb · ambiente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446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71.1 %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0.291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6217920" y="3410712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00" b="1">
                <a:solidFill>
                  <a:srgbClr val="8FB339"/>
                </a:solidFill>
              </a:rPr>
              <a:t>▪  </a:t>
            </a:r>
            <a:r>
              <a:rPr sz="1400" b="0">
                <a:solidFill>
                  <a:srgbClr val="444A52"/>
                </a:solidFill>
              </a:rPr>
              <a:t>Los errores se concentran en clases adyacentes: 99.5 % cae en la clase correcta o en una vecina.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8FB339"/>
                </a:solidFill>
              </a:rPr>
              <a:t>▪  </a:t>
            </a:r>
            <a:r>
              <a:rPr sz="1400" b="0">
                <a:solidFill>
                  <a:srgbClr val="444A52"/>
                </a:solidFill>
              </a:rPr>
              <a:t>MAE de 0.28 escalones sobre una escala de 5.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8FB339"/>
                </a:solidFill>
              </a:rPr>
              <a:t>▪  </a:t>
            </a:r>
            <a:r>
              <a:rPr sz="1400" b="0">
                <a:solidFill>
                  <a:srgbClr val="444A52"/>
                </a:solidFill>
              </a:rPr>
              <a:t>El desempeño es homogéneo entre grupos de almacenamiento: el modelo no está explotando el sesgo «verde ⇒ refrigerada».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144768"/>
            <a:ext cx="45720" cy="384048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1264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8A9098"/>
                </a:solidFill>
                <a:latin typeface="Calibri"/>
              </a:rPr>
              <a:t>Evaluado sobre 2.262 imágenes de 72 frutas que ningún modelo vio durante el entrenamiento.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40135" y="635508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098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E6B2F"/>
                </a:solidFill>
                <a:latin typeface="Calibri"/>
              </a:rPr>
              <a:t>ResNet-50 vs ViT-S/16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9098"/>
                </a:solidFill>
                <a:latin typeface="Calibri"/>
              </a:rPr>
              <a:t>Intervalos por bootstrap agrupado por fruta, no por imagen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371600" cy="32004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27632"/>
          <a:ext cx="10881358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395"/>
                <a:gridCol w="1231852"/>
                <a:gridCol w="1231852"/>
                <a:gridCol w="1231852"/>
                <a:gridCol w="1334506"/>
                <a:gridCol w="1334506"/>
                <a:gridCol w="1026543"/>
                <a:gridCol w="123185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GFLOPs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QWK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Acc. ±1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Calibri"/>
                        </a:rPr>
                        <a:t>ResNet-50</a:t>
                      </a:r>
                    </a:p>
                  </a:txBody>
                  <a:tcPr anchor="ctr" marL="82296" marR="82296">
                    <a:solidFill>
                      <a:srgbClr val="E8F1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A52"/>
                          </a:solidFill>
                          <a:latin typeface="Calibri"/>
                        </a:rPr>
                        <a:t>23.5 M</a:t>
                      </a:r>
                    </a:p>
                  </a:txBody>
                  <a:tcPr anchor="ctr" marL="82296" marR="82296">
                    <a:solidFill>
                      <a:srgbClr val="E8F1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A52"/>
                          </a:solidFill>
                          <a:latin typeface="Calibri"/>
                        </a:rPr>
                        <a:t>8.2</a:t>
                      </a:r>
                    </a:p>
                  </a:txBody>
                  <a:tcPr anchor="ctr" marL="82296" marR="82296">
                    <a:solidFill>
                      <a:srgbClr val="E8F1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A52"/>
                          </a:solidFill>
                          <a:latin typeface="Calibri"/>
                        </a:rPr>
                        <a:t>0.936</a:t>
                      </a:r>
                    </a:p>
                  </a:txBody>
                  <a:tcPr anchor="ctr" marL="82296" marR="82296">
                    <a:solidFill>
                      <a:srgbClr val="E8F1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A52"/>
                          </a:solidFill>
                          <a:latin typeface="Calibri"/>
                        </a:rPr>
                        <a:t>74.6 %</a:t>
                      </a:r>
                    </a:p>
                  </a:txBody>
                  <a:tcPr anchor="ctr" marL="82296" marR="82296">
                    <a:solidFill>
                      <a:srgbClr val="E8F1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A52"/>
                          </a:solidFill>
                          <a:latin typeface="Calibri"/>
                        </a:rPr>
                        <a:t>0.735</a:t>
                      </a:r>
                    </a:p>
                  </a:txBody>
                  <a:tcPr anchor="ctr" marL="82296" marR="82296">
                    <a:solidFill>
                      <a:srgbClr val="E8F1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A52"/>
                          </a:solidFill>
                          <a:latin typeface="Calibri"/>
                        </a:rPr>
                        <a:t>0.262</a:t>
                      </a:r>
                    </a:p>
                  </a:txBody>
                  <a:tcPr anchor="ctr" marL="82296" marR="82296">
                    <a:solidFill>
                      <a:srgbClr val="E8F1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A52"/>
                          </a:solidFill>
                          <a:latin typeface="Calibri"/>
                        </a:rPr>
                        <a:t>99.2 %</a:t>
                      </a:r>
                    </a:p>
                  </a:txBody>
                  <a:tcPr anchor="ctr" marL="82296" marR="82296">
                    <a:solidFill>
                      <a:srgbClr val="E8F1D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Calibri"/>
                        </a:rPr>
                        <a:t>ViT-S/16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A52"/>
                          </a:solidFill>
                          <a:latin typeface="Calibri"/>
                        </a:rPr>
                        <a:t>21.7 M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A52"/>
                          </a:solidFill>
                          <a:latin typeface="Calibri"/>
                        </a:rPr>
                        <a:t>8.5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A52"/>
                          </a:solidFill>
                          <a:latin typeface="Calibri"/>
                        </a:rPr>
                        <a:t>0.931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A52"/>
                          </a:solidFill>
                          <a:latin typeface="Calibri"/>
                        </a:rPr>
                        <a:t>72.2 %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A52"/>
                          </a:solidFill>
                          <a:latin typeface="Calibri"/>
                        </a:rPr>
                        <a:t>0.711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A52"/>
                          </a:solidFill>
                          <a:latin typeface="Calibri"/>
                        </a:rPr>
                        <a:t>0.282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A52"/>
                          </a:solidFill>
                          <a:latin typeface="Calibri"/>
                        </a:rPr>
                        <a:t>99.5 %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136392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250" b="1">
                <a:solidFill>
                  <a:srgbClr val="8FB339"/>
                </a:solidFill>
              </a:rPr>
              <a:t>▪  </a:t>
            </a:r>
            <a:r>
              <a:rPr sz="1250" b="1">
                <a:solidFill>
                  <a:srgbClr val="444A52"/>
                </a:solidFill>
              </a:rPr>
              <a:t>Δ QWK = -0.0042  ·  IC 95 % [-0.0095, +0.0006]  ·  p = 0.095 → diferencia NO significativa</a:t>
            </a:r>
          </a:p>
          <a:p>
            <a:pPr>
              <a:spcAft>
                <a:spcPts val="1300"/>
              </a:spcAft>
            </a:pPr>
            <a:r>
              <a:rPr sz="1250" b="1">
                <a:solidFill>
                  <a:srgbClr val="8FB339"/>
                </a:solidFill>
              </a:rPr>
              <a:t>▪  </a:t>
            </a:r>
            <a:r>
              <a:rPr sz="1250" b="0">
                <a:solidFill>
                  <a:srgbClr val="444A52"/>
                </a:solidFill>
              </a:rPr>
              <a:t>Un oráculo que eligiera siempre el modelo correcto llegaría a 82.0 % de accuracy, frente a 74.6 % del mejor modelo individual: hay complementariedad que explotar.</a:t>
            </a:r>
          </a:p>
          <a:p>
            <a:pPr>
              <a:spcAft>
                <a:spcPts val="1300"/>
              </a:spcAft>
            </a:pPr>
            <a:r>
              <a:rPr sz="1250" b="1">
                <a:solidFill>
                  <a:srgbClr val="8FB339"/>
                </a:solidFill>
              </a:rPr>
              <a:t>▪  </a:t>
            </a:r>
            <a:r>
              <a:rPr sz="1250" b="0">
                <a:solidFill>
                  <a:srgbClr val="444A52"/>
                </a:solidFill>
              </a:rPr>
              <a:t>Ambos modelos fallan simultáneamente en solo 18.0 % de las imágenes.</a:t>
            </a:r>
          </a:p>
          <a:p>
            <a:pPr>
              <a:spcAft>
                <a:spcPts val="1300"/>
              </a:spcAft>
            </a:pPr>
            <a:r>
              <a:rPr sz="1250" b="1">
                <a:solidFill>
                  <a:srgbClr val="8FB339"/>
                </a:solidFill>
              </a:rPr>
              <a:t>▪  </a:t>
            </a:r>
            <a:r>
              <a:rPr sz="1250" b="0">
                <a:solidFill>
                  <a:srgbClr val="444A52"/>
                </a:solidFill>
              </a:rPr>
              <a:t>Las 2.262 imágenes de test vienen de solo 72 frutas: asumir independencia entre imágenes daría intervalos artificialmente angostos.</a:t>
            </a:r>
          </a:p>
        </p:txBody>
      </p:sp>
      <p:pic>
        <p:nvPicPr>
          <p:cNvPr id="7" name="Picture 6" descr="10_matrices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364992"/>
            <a:ext cx="4937760" cy="26036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6144768"/>
            <a:ext cx="45720" cy="384048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1264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8A9098"/>
                </a:solidFill>
                <a:latin typeface="Calibri"/>
              </a:rPr>
              <a:t>Las dos matrices concentran el error en la diagonal vecina: el modelo confunde estados contiguos, no extremos.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0135" y="635508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098"/>
                </a:solidFill>
                <a:latin typeface="Calibri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E6B2F"/>
                </a:solidFill>
                <a:latin typeface="Calibri"/>
              </a:rPr>
              <a:t>Curvas de entrenamiento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371600" cy="32004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1_curvas_entrena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590" y="1170432"/>
            <a:ext cx="9364514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53712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00" b="1">
                <a:solidFill>
                  <a:srgbClr val="8FB339"/>
                </a:solidFill>
              </a:rPr>
              <a:t>▪  </a:t>
            </a:r>
            <a:r>
              <a:rPr sz="1400" b="0">
                <a:solidFill>
                  <a:srgbClr val="444A52"/>
                </a:solidFill>
              </a:rPr>
              <a:t>ResNet-50 alcanza su mejor QWK de validación en la época 11; ViT-S/16 en la 4.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8FB339"/>
                </a:solidFill>
              </a:rPr>
              <a:t>▪  </a:t>
            </a:r>
            <a:r>
              <a:rPr sz="1400" b="0">
                <a:solidFill>
                  <a:srgbClr val="444A52"/>
                </a:solidFill>
              </a:rPr>
              <a:t>Tiempo de entrenamiento: 10 min vs 5 min en una RTX 4070 Laptop de 8 GB.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8FB339"/>
                </a:solidFill>
              </a:rPr>
              <a:t>▪  </a:t>
            </a:r>
            <a:r>
              <a:rPr sz="1400" b="0">
                <a:solidFill>
                  <a:srgbClr val="444A52"/>
                </a:solidFill>
              </a:rPr>
              <a:t>Selección del checkpoint por QWK de validación, no por accuracy: es la métrica que refleja el costo real de los errores.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35508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098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E6B2F"/>
                </a:solidFill>
                <a:latin typeface="Calibri"/>
              </a:rPr>
              <a:t>Riesgos identificados y mitigación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9098"/>
                </a:solidFill>
                <a:latin typeface="Calibri"/>
              </a:rPr>
              <a:t>Concretos de este dataset, no genéricos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371600" cy="32004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27632"/>
          <a:ext cx="10881358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895"/>
                <a:gridCol w="4292646"/>
                <a:gridCol w="4192817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Riesgo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Por qué es real acá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Mitigación</a:t>
                      </a:r>
                    </a:p>
                  </a:txBody>
                  <a:tcPr anchor="ctr" marL="82296" marR="82296">
                    <a:solidFill>
                      <a:srgbClr val="2E6B2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Fuga longitudinal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6.871 pares de días consecutivos de la misma fruta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Split por fruta + assert automático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Domain gap laboratorio → terreno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Fondo blanco, fruta centrada, luz difusa controlada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Declarado en la data card; recolectar fotos de celular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Color = señal, no ruido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Un ColorJitter estándar vuelve una clase 2 en una clase 4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Jitter suave: hue 0,02 en vez de 0,1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Sesgo T10 ⇒ clase 1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T10 aporta 60 % de las imágenes con 40 % de las frutas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Pesos de clase + métricas desglosadas por grupo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Etiquetas subjetivas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Sin acuerdo inter-evaluador: techo humano desconocido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QWK y MAE en vez de accuracy; no perseguir 100 %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Ventaja oculta de pre-entrenamiento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Los pesos ViT habituales vienen de ImageNet-21k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52"/>
                          </a:solidFill>
                          <a:latin typeface="Calibri"/>
                        </a:rPr>
                        <a:t>DeiT-S: ambos modelos solo ImageNet-1k</a:t>
                      </a:r>
                    </a:p>
                  </a:txBody>
                  <a:tcPr anchor="ctr" marL="82296" marR="82296">
                    <a:solidFill>
                      <a:srgbClr val="F6F7F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6144768"/>
            <a:ext cx="45720" cy="384048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1264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8A9098"/>
                </a:solidFill>
                <a:latin typeface="Calibri"/>
              </a:rPr>
              <a:t>El domain gap es el riesgo que decide si esto sirve en un packing o solo en un paper.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0135" y="635508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098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E6B2F"/>
                </a:solidFill>
                <a:latin typeface="Calibri"/>
              </a:rPr>
              <a:t>Qué viene para el entregable final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371600" cy="32004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8FB339"/>
                </a:solidFill>
              </a:rPr>
              <a:t>▪  </a:t>
            </a:r>
            <a:r>
              <a:rPr sz="1600" b="1">
                <a:solidFill>
                  <a:srgbClr val="444A52"/>
                </a:solidFill>
              </a:rPr>
              <a:t>Ablación sin pre-entrenamiento.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8FB339"/>
                </a:solidFill>
              </a:rPr>
              <a:t>▪  </a:t>
            </a:r>
            <a:r>
              <a:rPr sz="1600" b="0">
                <a:solidFill>
                  <a:srgbClr val="444A52"/>
                </a:solidFill>
              </a:rPr>
              <a:t>Los mismos dos modelos entrenados desde cero. Es la evidencia empírica propia de por qué ResNet y ViT difieren: el transformer no tiene sesgo inductivo de localidad y tiene que aprenderlo de los datos.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8FB339"/>
                </a:solidFill>
              </a:rPr>
              <a:t>▪  </a:t>
            </a:r>
            <a:r>
              <a:rPr sz="1600" b="1">
                <a:solidFill>
                  <a:srgbClr val="444A52"/>
                </a:solidFill>
              </a:rPr>
              <a:t>Dos modelos híbridos.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8FB339"/>
                </a:solidFill>
              </a:rPr>
              <a:t>▪  </a:t>
            </a:r>
            <a:r>
              <a:rPr sz="1600" b="0">
                <a:solidFill>
                  <a:srgbClr val="444A52"/>
                </a:solidFill>
              </a:rPr>
              <a:t>Fusión tardía de los dos backbones ya afinados, y el ViT-Hybrid R26+S/32 del paper original de ViT, donde un stem convolucional alimenta al transformer.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8FB339"/>
                </a:solidFill>
              </a:rPr>
              <a:t>▪  </a:t>
            </a:r>
            <a:r>
              <a:rPr sz="1600" b="1">
                <a:solidFill>
                  <a:srgbClr val="444A52"/>
                </a:solidFill>
              </a:rPr>
              <a:t>Interpretabilidad comparada.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8FB339"/>
                </a:solidFill>
              </a:rPr>
              <a:t>▪  </a:t>
            </a:r>
            <a:r>
              <a:rPr sz="1600" b="0">
                <a:solidFill>
                  <a:srgbClr val="444A52"/>
                </a:solidFill>
              </a:rPr>
              <a:t>Grad-CAM sobre la ResNet y attention rollout sobre el ViT, en los casos donde los dos modelos discrepan.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8FB339"/>
                </a:solidFill>
              </a:rPr>
              <a:t>▪  </a:t>
            </a:r>
            <a:r>
              <a:rPr sz="1600" b="1">
                <a:solidFill>
                  <a:srgbClr val="444A52"/>
                </a:solidFill>
              </a:rPr>
              <a:t>Demo funcional en Gradio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8FB339"/>
                </a:solidFill>
              </a:rPr>
              <a:t>▪  </a:t>
            </a:r>
            <a:r>
              <a:rPr sz="1600" b="0">
                <a:solidFill>
                  <a:srgbClr val="444A52"/>
                </a:solidFill>
              </a:rPr>
              <a:t>y decisión explícita de velocidad frente a precisión.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144768"/>
            <a:ext cx="45720" cy="384048"/>
          </a:xfrm>
          <a:prstGeom prst="rect">
            <a:avLst/>
          </a:prstGeom>
          <a:solidFill>
            <a:srgbClr val="8FB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1264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8A9098"/>
                </a:solidFill>
                <a:latin typeface="Calibri"/>
              </a:rPr>
              <a:t>Repositorio: github.com/cmartinez1524/clasificacion-de-paltas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35508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098"/>
                </a:solidFill>
                <a:latin typeface="Calibri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
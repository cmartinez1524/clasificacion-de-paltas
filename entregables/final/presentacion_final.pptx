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E6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60520"/>
            <a:ext cx="12191695" cy="54864"/>
          </a:xfrm>
          <a:prstGeom prst="rect">
            <a:avLst/>
          </a:prstGeom>
          <a:solidFill>
            <a:srgbClr val="8FB3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0"/>
            <a:ext cx="10332720" cy="1737360"/>
          </a:xfrm>
          <a:prstGeom prst="rect">
            <a:avLst/>
          </a:prstGeom>
          <a:noFill/>
        </p:spPr>
        <p:txBody>
          <a:bodyPr wrap="square" anchor="t">
            <a:spAutoFit/>
          </a:bodyPr>
          <a:lstStyle/>
          <a:p>
            <a:pPr algn="l"/>
            <a:r>
              <a:rPr sz="4400" b="1">
                <a:solidFill>
                  <a:srgbClr val="FFFFFF"/>
                </a:solidFill>
                <a:latin typeface="Calibri"/>
              </a:rPr>
              <a:t>Clasificación del estado de</a:t>
            </a:r>
          </a:p>
          <a:p>
            <a:pPr algn="l"/>
            <a:r>
              <a:rPr sz="4400" b="1">
                <a:solidFill>
                  <a:srgbClr val="FFFFFF"/>
                </a:solidFill>
                <a:latin typeface="Calibri"/>
              </a:rPr>
              <a:t>madurez de paltas Hass</a:t>
            </a:r>
          </a:p>
        </p:txBody>
      </p:sp>
      <p:sp>
        <p:nvSpPr>
          <p:cNvPr id="5" name="TextBox 4"/>
          <p:cNvSpPr txBox="1"/>
          <p:nvPr/>
        </p:nvSpPr>
        <p:spPr>
          <a:xfrm>
            <a:off x="914400" y="4434840"/>
            <a:ext cx="10332720" cy="914400"/>
          </a:xfrm>
          <a:prstGeom prst="rect">
            <a:avLst/>
          </a:prstGeom>
          <a:noFill/>
        </p:spPr>
        <p:txBody>
          <a:bodyPr wrap="square" anchor="t">
            <a:spAutoFit/>
          </a:bodyPr>
          <a:lstStyle/>
          <a:p>
            <a:pPr algn="l"/>
            <a:r>
              <a:rPr sz="2000" b="0">
                <a:solidFill>
                  <a:srgbClr val="DAE8C8"/>
                </a:solidFill>
                <a:latin typeface="Calibri"/>
              </a:rPr>
              <a:t>ResNet-50, ViT-S/16 e híbridos con presupuesto equiparado</a:t>
            </a:r>
          </a:p>
        </p:txBody>
      </p:sp>
      <p:sp>
        <p:nvSpPr>
          <p:cNvPr id="6" name="TextBox 5"/>
          <p:cNvSpPr txBox="1"/>
          <p:nvPr/>
        </p:nvSpPr>
        <p:spPr>
          <a:xfrm>
            <a:off x="914400" y="5669280"/>
            <a:ext cx="10332720" cy="731520"/>
          </a:xfrm>
          <a:prstGeom prst="rect">
            <a:avLst/>
          </a:prstGeom>
          <a:noFill/>
        </p:spPr>
        <p:txBody>
          <a:bodyPr wrap="square" anchor="t">
            <a:spAutoFit/>
          </a:bodyPr>
          <a:lstStyle/>
          <a:p>
            <a:pPr algn="l"/>
            <a:r>
              <a:rPr sz="1400" b="0">
                <a:solidFill>
                  <a:srgbClr val="C2D6AE"/>
                </a:solidFill>
                <a:latin typeface="Calibri"/>
              </a:rPr>
              <a:t>Cristóbal Martínez  ·  Entrega final · 23 de noviembre de 2026</a:t>
            </a:r>
          </a:p>
          <a:p>
            <a:pPr algn="l"/>
            <a:r>
              <a:rPr sz="1400" b="0">
                <a:solidFill>
                  <a:srgbClr val="C2D6AE"/>
                </a:solidFill>
                <a:latin typeface="Calibri"/>
              </a:rPr>
              <a:t>14.710 fotografías · 478 frutas · índice ordinal de 5 niveles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972800" cy="685800"/>
          </a:xfrm>
          <a:prstGeom prst="rect">
            <a:avLst/>
          </a:prstGeom>
          <a:noFill/>
        </p:spPr>
        <p:txBody>
          <a:bodyPr wrap="square" anchor="t">
            <a:spAutoFit/>
          </a:bodyPr>
          <a:lstStyle/>
          <a:p>
            <a:pPr algn="l"/>
            <a:r>
              <a:rPr sz="3000" b="1">
                <a:solidFill>
                  <a:srgbClr val="2E6B2F"/>
                </a:solidFill>
                <a:latin typeface="Calibri"/>
              </a:rPr>
              <a:t>Problema y motivación</a:t>
            </a:r>
          </a:p>
        </p:txBody>
      </p:sp>
      <p:sp>
        <p:nvSpPr>
          <p:cNvPr id="3" name="TextBox 2"/>
          <p:cNvSpPr txBox="1"/>
          <p:nvPr/>
        </p:nvSpPr>
        <p:spPr>
          <a:xfrm>
            <a:off x="640080" y="1078992"/>
            <a:ext cx="10972800" cy="457200"/>
          </a:xfrm>
          <a:prstGeom prst="rect">
            <a:avLst/>
          </a:prstGeom>
          <a:noFill/>
        </p:spPr>
        <p:txBody>
          <a:bodyPr wrap="square" anchor="t">
            <a:spAutoFit/>
          </a:bodyPr>
          <a:lstStyle/>
          <a:p>
            <a:pPr algn="l"/>
            <a:r>
              <a:rPr sz="1500" b="0">
                <a:solidFill>
                  <a:srgbClr val="8A9098"/>
                </a:solidFill>
                <a:latin typeface="Calibri"/>
              </a:rPr>
              <a:t>Una ventana de madurez estrecha y una clasificación manual</a:t>
            </a:r>
          </a:p>
        </p:txBody>
      </p:sp>
      <p:sp>
        <p:nvSpPr>
          <p:cNvPr id="4" name="Rectangle 3"/>
          <p:cNvSpPr/>
          <p:nvPr/>
        </p:nvSpPr>
        <p:spPr>
          <a:xfrm>
            <a:off x="640080" y="1024128"/>
            <a:ext cx="1371600" cy="32004"/>
          </a:xfrm>
          <a:prstGeom prst="rect">
            <a:avLst/>
          </a:prstGeom>
          <a:solidFill>
            <a:srgbClr val="8FB3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27632"/>
            <a:ext cx="5760720" cy="4206240"/>
          </a:xfrm>
          <a:prstGeom prst="rect">
            <a:avLst/>
          </a:prstGeom>
          <a:noFill/>
        </p:spPr>
        <p:txBody>
          <a:bodyPr wrap="square">
            <a:spAutoFit/>
          </a:bodyPr>
          <a:lstStyle/>
          <a:p>
            <a:pPr>
              <a:spcAft>
                <a:spcPts val="1300"/>
              </a:spcAft>
            </a:pPr>
            <a:r>
              <a:rPr sz="1700" b="1">
                <a:solidFill>
                  <a:srgbClr val="8FB339"/>
                </a:solidFill>
              </a:rPr>
              <a:t>▪  </a:t>
            </a:r>
            <a:r>
              <a:rPr sz="1700" b="1">
                <a:solidFill>
                  <a:srgbClr val="444A52"/>
                </a:solidFill>
              </a:rPr>
              <a:t>Chile es el tercer exportador mundial de paltas Hass.</a:t>
            </a:r>
          </a:p>
          <a:p>
            <a:pPr>
              <a:spcAft>
                <a:spcPts val="1300"/>
              </a:spcAft>
            </a:pPr>
            <a:r>
              <a:rPr sz="1700" b="1">
                <a:solidFill>
                  <a:srgbClr val="8FB339"/>
                </a:solidFill>
              </a:rPr>
              <a:t>▪  </a:t>
            </a:r>
            <a:r>
              <a:rPr sz="1700" b="0">
                <a:solidFill>
                  <a:srgbClr val="444A52"/>
                </a:solidFill>
              </a:rPr>
              <a:t>La clasificación por madurez se hace a ojo y al tacto, operario por operario, sin trazabilidad ni criterio homogéneo.</a:t>
            </a:r>
          </a:p>
          <a:p>
            <a:pPr>
              <a:spcAft>
                <a:spcPts val="1300"/>
              </a:spcAft>
            </a:pPr>
            <a:r>
              <a:rPr sz="1700" b="1">
                <a:solidFill>
                  <a:srgbClr val="8FB339"/>
                </a:solidFill>
              </a:rPr>
              <a:t>▪  </a:t>
            </a:r>
            <a:r>
              <a:rPr sz="1700" b="0">
                <a:solidFill>
                  <a:srgbClr val="444A52"/>
                </a:solidFill>
              </a:rPr>
              <a:t>Fruta verde en góndola: el consumidor la descarta. Fruta pasada en tránsito: pérdida total. Los dos errores cuestan, y cuestan distinto.</a:t>
            </a:r>
          </a:p>
          <a:p>
            <a:pPr>
              <a:spcAft>
                <a:spcPts val="1300"/>
              </a:spcAft>
            </a:pPr>
            <a:r>
              <a:rPr sz="1700" b="1">
                <a:solidFill>
                  <a:srgbClr val="8FB339"/>
                </a:solidFill>
              </a:rPr>
              <a:t>▪  </a:t>
            </a:r>
            <a:r>
              <a:rPr sz="1700" b="1">
                <a:solidFill>
                  <a:srgbClr val="444A52"/>
                </a:solidFill>
              </a:rPr>
              <a:t>La tarea es ordinal.</a:t>
            </a:r>
          </a:p>
          <a:p>
            <a:pPr>
              <a:spcAft>
                <a:spcPts val="1300"/>
              </a:spcAft>
            </a:pPr>
            <a:r>
              <a:rPr sz="1700" b="1">
                <a:solidFill>
                  <a:srgbClr val="8FB339"/>
                </a:solidFill>
              </a:rPr>
              <a:t>▪  </a:t>
            </a:r>
            <a:r>
              <a:rPr sz="1700" b="0">
                <a:solidFill>
                  <a:srgbClr val="444A52"/>
                </a:solidFill>
              </a:rPr>
              <a:t>Confundir un 1 con un 2 es un error de un día; confundir un 1 con un 5 es mandar fruta podrida a la venta. La métrica debe reflejarlo.</a:t>
            </a:r>
          </a:p>
        </p:txBody>
      </p:sp>
      <p:graphicFrame>
        <p:nvGraphicFramePr>
          <p:cNvPr id="6" name="Table 5"/>
          <p:cNvGraphicFramePr>
            <a:graphicFrameLocks noGrp="1"/>
          </p:cNvGraphicFramePr>
          <p:nvPr/>
        </p:nvGraphicFramePr>
        <p:xfrm>
          <a:off x="6766560" y="1764792"/>
          <a:ext cx="4754880" cy="2029968"/>
        </p:xfrm>
        <a:graphic>
          <a:graphicData uri="http://schemas.openxmlformats.org/drawingml/2006/table">
            <a:tbl>
              <a:tblPr firstRow="1" bandRow="1">
                <a:tableStyleId>{5C22544A-7EE6-4342-B048-85BDC9FD1C3A}</a:tableStyleId>
              </a:tblPr>
              <a:tblGrid>
                <a:gridCol w="792480"/>
                <a:gridCol w="1584960"/>
                <a:gridCol w="2377440"/>
              </a:tblGrid>
              <a:tr h="384048">
                <a:tc>
                  <a:txBody>
                    <a:bodyPr/>
                    <a:lstStyle/>
                    <a:p>
                      <a:pPr algn="l"/>
                      <a:r>
                        <a:rPr sz="1200" b="1">
                          <a:solidFill>
                            <a:srgbClr val="FFFFFF"/>
                          </a:solidFill>
                          <a:latin typeface="Calibri"/>
                        </a:rPr>
                        <a:t>Índice</a:t>
                      </a:r>
                    </a:p>
                  </a:txBody>
                  <a:tcPr anchor="ctr" marL="82296" marR="82296">
                    <a:solidFill>
                      <a:srgbClr val="2E6B2F"/>
                    </a:solidFill>
                  </a:tcPr>
                </a:tc>
                <a:tc>
                  <a:txBody>
                    <a:bodyPr/>
                    <a:lstStyle/>
                    <a:p>
                      <a:pPr algn="ctr"/>
                      <a:r>
                        <a:rPr sz="1200" b="1">
                          <a:solidFill>
                            <a:srgbClr val="FFFFFF"/>
                          </a:solidFill>
                          <a:latin typeface="Calibri"/>
                        </a:rPr>
                        <a:t>Estado</a:t>
                      </a:r>
                    </a:p>
                  </a:txBody>
                  <a:tcPr anchor="ctr" marL="82296" marR="82296">
                    <a:solidFill>
                      <a:srgbClr val="2E6B2F"/>
                    </a:solidFill>
                  </a:tcPr>
                </a:tc>
                <a:tc>
                  <a:txBody>
                    <a:bodyPr/>
                    <a:lstStyle/>
                    <a:p>
                      <a:pPr algn="ctr"/>
                      <a:r>
                        <a:rPr sz="1200" b="1">
                          <a:solidFill>
                            <a:srgbClr val="FFFFFF"/>
                          </a:solidFill>
                          <a:latin typeface="Calibri"/>
                        </a:rPr>
                        <a:t>Decisión</a:t>
                      </a:r>
                    </a:p>
                  </a:txBody>
                  <a:tcPr anchor="ctr" marL="82296" marR="82296">
                    <a:solidFill>
                      <a:srgbClr val="2E6B2F"/>
                    </a:solidFill>
                  </a:tcPr>
                </a:tc>
              </a:tr>
              <a:tr h="329184">
                <a:tc>
                  <a:txBody>
                    <a:bodyPr/>
                    <a:lstStyle/>
                    <a:p>
                      <a:pPr algn="l"/>
                      <a:r>
                        <a:rPr sz="1200" b="0">
                          <a:solidFill>
                            <a:srgbClr val="444A52"/>
                          </a:solidFill>
                          <a:latin typeface="Calibri"/>
                        </a:rPr>
                        <a:t>1</a:t>
                      </a:r>
                    </a:p>
                  </a:txBody>
                  <a:tcPr anchor="ctr" marL="82296" marR="82296">
                    <a:solidFill>
                      <a:srgbClr val="FFFFFF"/>
                    </a:solidFill>
                  </a:tcPr>
                </a:tc>
                <a:tc>
                  <a:txBody>
                    <a:bodyPr/>
                    <a:lstStyle/>
                    <a:p>
                      <a:pPr algn="ctr"/>
                      <a:r>
                        <a:rPr sz="1200" b="0">
                          <a:solidFill>
                            <a:srgbClr val="444A52"/>
                          </a:solidFill>
                          <a:latin typeface="Calibri"/>
                        </a:rPr>
                        <a:t>Verde</a:t>
                      </a:r>
                    </a:p>
                  </a:txBody>
                  <a:tcPr anchor="ctr" marL="82296" marR="82296">
                    <a:solidFill>
                      <a:srgbClr val="FFFFFF"/>
                    </a:solidFill>
                  </a:tcPr>
                </a:tc>
                <a:tc>
                  <a:txBody>
                    <a:bodyPr/>
                    <a:lstStyle/>
                    <a:p>
                      <a:pPr algn="ctr"/>
                      <a:r>
                        <a:rPr sz="1200" b="0">
                          <a:solidFill>
                            <a:srgbClr val="444A52"/>
                          </a:solidFill>
                          <a:latin typeface="Calibri"/>
                        </a:rPr>
                        <a:t>Dejar madurar</a:t>
                      </a:r>
                    </a:p>
                  </a:txBody>
                  <a:tcPr anchor="ctr" marL="82296" marR="82296">
                    <a:solidFill>
                      <a:srgbClr val="FFFFFF"/>
                    </a:solidFill>
                  </a:tcPr>
                </a:tc>
              </a:tr>
              <a:tr h="329184">
                <a:tc>
                  <a:txBody>
                    <a:bodyPr/>
                    <a:lstStyle/>
                    <a:p>
                      <a:pPr algn="l"/>
                      <a:r>
                        <a:rPr sz="1200" b="0">
                          <a:solidFill>
                            <a:srgbClr val="444A52"/>
                          </a:solidFill>
                          <a:latin typeface="Calibri"/>
                        </a:rPr>
                        <a:t>2</a:t>
                      </a:r>
                    </a:p>
                  </a:txBody>
                  <a:tcPr anchor="ctr" marL="82296" marR="82296">
                    <a:solidFill>
                      <a:srgbClr val="F6F7F4"/>
                    </a:solidFill>
                  </a:tcPr>
                </a:tc>
                <a:tc>
                  <a:txBody>
                    <a:bodyPr/>
                    <a:lstStyle/>
                    <a:p>
                      <a:pPr algn="ctr"/>
                      <a:r>
                        <a:rPr sz="1200" b="0">
                          <a:solidFill>
                            <a:srgbClr val="444A52"/>
                          </a:solidFill>
                          <a:latin typeface="Calibri"/>
                        </a:rPr>
                        <a:t>Iniciando</a:t>
                      </a:r>
                    </a:p>
                  </a:txBody>
                  <a:tcPr anchor="ctr" marL="82296" marR="82296">
                    <a:solidFill>
                      <a:srgbClr val="F6F7F4"/>
                    </a:solidFill>
                  </a:tcPr>
                </a:tc>
                <a:tc>
                  <a:txBody>
                    <a:bodyPr/>
                    <a:lstStyle/>
                    <a:p>
                      <a:pPr algn="ctr"/>
                      <a:r>
                        <a:rPr sz="1200" b="0">
                          <a:solidFill>
                            <a:srgbClr val="444A52"/>
                          </a:solidFill>
                          <a:latin typeface="Calibri"/>
                        </a:rPr>
                        <a:t>Lista en 2-3 días</a:t>
                      </a:r>
                    </a:p>
                  </a:txBody>
                  <a:tcPr anchor="ctr" marL="82296" marR="82296">
                    <a:solidFill>
                      <a:srgbClr val="F6F7F4"/>
                    </a:solidFill>
                  </a:tcPr>
                </a:tc>
              </a:tr>
              <a:tr h="329184">
                <a:tc>
                  <a:txBody>
                    <a:bodyPr/>
                    <a:lstStyle/>
                    <a:p>
                      <a:pPr algn="l"/>
                      <a:r>
                        <a:rPr sz="1200" b="0">
                          <a:solidFill>
                            <a:srgbClr val="444A52"/>
                          </a:solidFill>
                          <a:latin typeface="Calibri"/>
                        </a:rPr>
                        <a:t>3</a:t>
                      </a:r>
                    </a:p>
                  </a:txBody>
                  <a:tcPr anchor="ctr" marL="82296" marR="82296">
                    <a:solidFill>
                      <a:srgbClr val="FFFFFF"/>
                    </a:solidFill>
                  </a:tcPr>
                </a:tc>
                <a:tc>
                  <a:txBody>
                    <a:bodyPr/>
                    <a:lstStyle/>
                    <a:p>
                      <a:pPr algn="ctr"/>
                      <a:r>
                        <a:rPr sz="1200" b="0">
                          <a:solidFill>
                            <a:srgbClr val="444A52"/>
                          </a:solidFill>
                          <a:latin typeface="Calibri"/>
                        </a:rPr>
                        <a:t>Maduro I</a:t>
                      </a:r>
                    </a:p>
                  </a:txBody>
                  <a:tcPr anchor="ctr" marL="82296" marR="82296">
                    <a:solidFill>
                      <a:srgbClr val="FFFFFF"/>
                    </a:solidFill>
                  </a:tcPr>
                </a:tc>
                <a:tc>
                  <a:txBody>
                    <a:bodyPr/>
                    <a:lstStyle/>
                    <a:p>
                      <a:pPr algn="ctr"/>
                      <a:r>
                        <a:rPr sz="1200" b="0">
                          <a:solidFill>
                            <a:srgbClr val="444A52"/>
                          </a:solidFill>
                          <a:latin typeface="Calibri"/>
                        </a:rPr>
                        <a:t>Venta inmediata</a:t>
                      </a:r>
                    </a:p>
                  </a:txBody>
                  <a:tcPr anchor="ctr" marL="82296" marR="82296">
                    <a:solidFill>
                      <a:srgbClr val="FFFFFF"/>
                    </a:solidFill>
                  </a:tcPr>
                </a:tc>
              </a:tr>
              <a:tr h="329184">
                <a:tc>
                  <a:txBody>
                    <a:bodyPr/>
                    <a:lstStyle/>
                    <a:p>
                      <a:pPr algn="l"/>
                      <a:r>
                        <a:rPr sz="1200" b="0">
                          <a:solidFill>
                            <a:srgbClr val="444A52"/>
                          </a:solidFill>
                          <a:latin typeface="Calibri"/>
                        </a:rPr>
                        <a:t>4</a:t>
                      </a:r>
                    </a:p>
                  </a:txBody>
                  <a:tcPr anchor="ctr" marL="82296" marR="82296">
                    <a:solidFill>
                      <a:srgbClr val="F6F7F4"/>
                    </a:solidFill>
                  </a:tcPr>
                </a:tc>
                <a:tc>
                  <a:txBody>
                    <a:bodyPr/>
                    <a:lstStyle/>
                    <a:p>
                      <a:pPr algn="ctr"/>
                      <a:r>
                        <a:rPr sz="1200" b="0">
                          <a:solidFill>
                            <a:srgbClr val="444A52"/>
                          </a:solidFill>
                          <a:latin typeface="Calibri"/>
                        </a:rPr>
                        <a:t>Maduro II</a:t>
                      </a:r>
                    </a:p>
                  </a:txBody>
                  <a:tcPr anchor="ctr" marL="82296" marR="82296">
                    <a:solidFill>
                      <a:srgbClr val="F6F7F4"/>
                    </a:solidFill>
                  </a:tcPr>
                </a:tc>
                <a:tc>
                  <a:txBody>
                    <a:bodyPr/>
                    <a:lstStyle/>
                    <a:p>
                      <a:pPr algn="ctr"/>
                      <a:r>
                        <a:rPr sz="1200" b="0">
                          <a:solidFill>
                            <a:srgbClr val="444A52"/>
                          </a:solidFill>
                          <a:latin typeface="Calibri"/>
                        </a:rPr>
                        <a:t>Último día</a:t>
                      </a:r>
                    </a:p>
                  </a:txBody>
                  <a:tcPr anchor="ctr" marL="82296" marR="82296">
                    <a:solidFill>
                      <a:srgbClr val="F6F7F4"/>
                    </a:solidFill>
                  </a:tcPr>
                </a:tc>
              </a:tr>
              <a:tr h="329184">
                <a:tc>
                  <a:txBody>
                    <a:bodyPr/>
                    <a:lstStyle/>
                    <a:p>
                      <a:pPr algn="l"/>
                      <a:r>
                        <a:rPr sz="1200" b="0">
                          <a:solidFill>
                            <a:srgbClr val="444A52"/>
                          </a:solidFill>
                          <a:latin typeface="Calibri"/>
                        </a:rPr>
                        <a:t>5</a:t>
                      </a:r>
                    </a:p>
                  </a:txBody>
                  <a:tcPr anchor="ctr" marL="82296" marR="82296">
                    <a:solidFill>
                      <a:srgbClr val="FFFFFF"/>
                    </a:solidFill>
                  </a:tcPr>
                </a:tc>
                <a:tc>
                  <a:txBody>
                    <a:bodyPr/>
                    <a:lstStyle/>
                    <a:p>
                      <a:pPr algn="ctr"/>
                      <a:r>
                        <a:rPr sz="1200" b="0">
                          <a:solidFill>
                            <a:srgbClr val="444A52"/>
                          </a:solidFill>
                          <a:latin typeface="Calibri"/>
                        </a:rPr>
                        <a:t>Sobremaduro</a:t>
                      </a:r>
                    </a:p>
                  </a:txBody>
                  <a:tcPr anchor="ctr" marL="82296" marR="82296">
                    <a:solidFill>
                      <a:srgbClr val="FFFFFF"/>
                    </a:solidFill>
                  </a:tcPr>
                </a:tc>
                <a:tc>
                  <a:txBody>
                    <a:bodyPr/>
                    <a:lstStyle/>
                    <a:p>
                      <a:pPr algn="ctr"/>
                      <a:r>
                        <a:rPr sz="1200" b="0">
                          <a:solidFill>
                            <a:srgbClr val="444A52"/>
                          </a:solidFill>
                          <a:latin typeface="Calibri"/>
                        </a:rPr>
                        <a:t>Fuera de punto</a:t>
                      </a:r>
                    </a:p>
                  </a:txBody>
                  <a:tcPr anchor="ctr" marL="82296" marR="82296">
                    <a:solidFill>
                      <a:srgbClr val="FFFFFF"/>
                    </a:solidFill>
                  </a:tcPr>
                </a:tc>
              </a:tr>
            </a:tbl>
          </a:graphicData>
        </a:graphic>
      </p:graphicFrame>
      <p:sp>
        <p:nvSpPr>
          <p:cNvPr id="7" name="Rectangle 6"/>
          <p:cNvSpPr/>
          <p:nvPr/>
        </p:nvSpPr>
        <p:spPr>
          <a:xfrm>
            <a:off x="640080" y="6144768"/>
            <a:ext cx="45720" cy="384048"/>
          </a:xfrm>
          <a:prstGeom prst="rect">
            <a:avLst/>
          </a:prstGeom>
          <a:solidFill>
            <a:srgbClr val="8FB3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6126480"/>
            <a:ext cx="10698480" cy="457200"/>
          </a:xfrm>
          <a:prstGeom prst="rect">
            <a:avLst/>
          </a:prstGeom>
          <a:noFill/>
        </p:spPr>
        <p:txBody>
          <a:bodyPr wrap="square" anchor="ctr">
            <a:spAutoFit/>
          </a:bodyPr>
          <a:lstStyle/>
          <a:p>
            <a:pPr algn="l"/>
            <a:r>
              <a:rPr sz="1300" b="0">
                <a:solidFill>
                  <a:srgbClr val="8A9098"/>
                </a:solidFill>
                <a:latin typeface="Calibri"/>
              </a:rPr>
              <a:t>Métrica principal: QWK (kappa cuadrático), que penaliza el error según el cuadrado de la distancia entre clases.</a:t>
            </a:r>
          </a:p>
        </p:txBody>
      </p:sp>
      <p:sp>
        <p:nvSpPr>
          <p:cNvPr id="9" name="TextBox 8"/>
          <p:cNvSpPr txBox="1"/>
          <p:nvPr/>
        </p:nvSpPr>
        <p:spPr>
          <a:xfrm>
            <a:off x="11140135" y="6355080"/>
            <a:ext cx="640080" cy="320040"/>
          </a:xfrm>
          <a:prstGeom prst="rect">
            <a:avLst/>
          </a:prstGeom>
          <a:noFill/>
        </p:spPr>
        <p:txBody>
          <a:bodyPr wrap="square" anchor="t">
            <a:spAutoFit/>
          </a:bodyPr>
          <a:lstStyle/>
          <a:p>
            <a:pPr algn="r"/>
            <a:r>
              <a:rPr sz="1100" b="0">
                <a:solidFill>
                  <a:srgbClr val="8A9098"/>
                </a:solidFill>
                <a:latin typeface="Calibri"/>
              </a:rPr>
              <a:t>2/13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972800" cy="685800"/>
          </a:xfrm>
          <a:prstGeom prst="rect">
            <a:avLst/>
          </a:prstGeom>
          <a:noFill/>
        </p:spPr>
        <p:txBody>
          <a:bodyPr wrap="square" anchor="t">
            <a:spAutoFit/>
          </a:bodyPr>
          <a:lstStyle/>
          <a:p>
            <a:pPr algn="l"/>
            <a:r>
              <a:rPr sz="3000" b="1">
                <a:solidFill>
                  <a:srgbClr val="2E6B2F"/>
                </a:solidFill>
                <a:latin typeface="Calibri"/>
              </a:rPr>
              <a:t>Datos y limitaciones</a:t>
            </a:r>
          </a:p>
        </p:txBody>
      </p:sp>
      <p:sp>
        <p:nvSpPr>
          <p:cNvPr id="3" name="TextBox 2"/>
          <p:cNvSpPr txBox="1"/>
          <p:nvPr/>
        </p:nvSpPr>
        <p:spPr>
          <a:xfrm>
            <a:off x="640080" y="1078992"/>
            <a:ext cx="10972800" cy="457200"/>
          </a:xfrm>
          <a:prstGeom prst="rect">
            <a:avLst/>
          </a:prstGeom>
          <a:noFill/>
        </p:spPr>
        <p:txBody>
          <a:bodyPr wrap="square" anchor="t">
            <a:spAutoFit/>
          </a:bodyPr>
          <a:lstStyle/>
          <a:p>
            <a:pPr algn="l"/>
            <a:r>
              <a:rPr sz="1500" b="0">
                <a:solidFill>
                  <a:srgbClr val="8A9098"/>
                </a:solidFill>
                <a:latin typeface="Calibri"/>
              </a:rPr>
              <a:t>Hass Avocado Ripening Photographic Dataset · Mendeley · CC BY 4.0</a:t>
            </a:r>
          </a:p>
        </p:txBody>
      </p:sp>
      <p:sp>
        <p:nvSpPr>
          <p:cNvPr id="4" name="Rectangle 3"/>
          <p:cNvSpPr/>
          <p:nvPr/>
        </p:nvSpPr>
        <p:spPr>
          <a:xfrm>
            <a:off x="640080" y="1024128"/>
            <a:ext cx="1371600" cy="32004"/>
          </a:xfrm>
          <a:prstGeom prst="rect">
            <a:avLst/>
          </a:prstGeom>
          <a:solidFill>
            <a:srgbClr val="8FB3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627632"/>
            <a:ext cx="2615184" cy="1371600"/>
          </a:xfrm>
          <a:prstGeom prst="rect">
            <a:avLst/>
          </a:prstGeom>
          <a:solidFill>
            <a:srgbClr val="F6F7F4"/>
          </a:solidFill>
          <a:ln w="12700">
            <a:solidFill>
              <a:srgbClr val="DDE2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640080" y="1627632"/>
            <a:ext cx="50292" cy="1371600"/>
          </a:xfrm>
          <a:prstGeom prst="rect">
            <a:avLst/>
          </a:prstGeom>
          <a:solidFill>
            <a:srgbClr val="2E6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73936"/>
            <a:ext cx="2203704" cy="320040"/>
          </a:xfrm>
          <a:prstGeom prst="rect">
            <a:avLst/>
          </a:prstGeom>
          <a:noFill/>
        </p:spPr>
        <p:txBody>
          <a:bodyPr wrap="square" anchor="t">
            <a:spAutoFit/>
          </a:bodyPr>
          <a:lstStyle/>
          <a:p>
            <a:pPr algn="l"/>
            <a:r>
              <a:rPr sz="1200" b="1">
                <a:solidFill>
                  <a:srgbClr val="8A9098"/>
                </a:solidFill>
                <a:latin typeface="Calibri"/>
              </a:rPr>
              <a:t>IMÁGENES</a:t>
            </a:r>
          </a:p>
        </p:txBody>
      </p:sp>
      <p:sp>
        <p:nvSpPr>
          <p:cNvPr id="8" name="TextBox 7"/>
          <p:cNvSpPr txBox="1"/>
          <p:nvPr/>
        </p:nvSpPr>
        <p:spPr>
          <a:xfrm>
            <a:off x="896112" y="2103120"/>
            <a:ext cx="2203704" cy="566928"/>
          </a:xfrm>
          <a:prstGeom prst="rect">
            <a:avLst/>
          </a:prstGeom>
          <a:noFill/>
        </p:spPr>
        <p:txBody>
          <a:bodyPr wrap="square" anchor="t">
            <a:spAutoFit/>
          </a:bodyPr>
          <a:lstStyle/>
          <a:p>
            <a:pPr algn="l"/>
            <a:r>
              <a:rPr sz="3000" b="1">
                <a:solidFill>
                  <a:srgbClr val="2E6B2F"/>
                </a:solidFill>
                <a:latin typeface="Calibri"/>
              </a:rPr>
              <a:t>14.710</a:t>
            </a:r>
          </a:p>
        </p:txBody>
      </p:sp>
      <p:sp>
        <p:nvSpPr>
          <p:cNvPr id="9" name="TextBox 8"/>
          <p:cNvSpPr txBox="1"/>
          <p:nvPr/>
        </p:nvSpPr>
        <p:spPr>
          <a:xfrm>
            <a:off x="896112" y="2432304"/>
            <a:ext cx="2203704" cy="457200"/>
          </a:xfrm>
          <a:prstGeom prst="rect">
            <a:avLst/>
          </a:prstGeom>
          <a:noFill/>
        </p:spPr>
        <p:txBody>
          <a:bodyPr wrap="square" anchor="t">
            <a:spAutoFit/>
          </a:bodyPr>
          <a:lstStyle/>
          <a:p>
            <a:pPr algn="l"/>
            <a:r>
              <a:rPr sz="1100" b="0">
                <a:solidFill>
                  <a:srgbClr val="8A9098"/>
                </a:solidFill>
                <a:latin typeface="Calibri"/>
              </a:rPr>
              <a:t>800×800 px</a:t>
            </a:r>
          </a:p>
        </p:txBody>
      </p:sp>
      <p:sp>
        <p:nvSpPr>
          <p:cNvPr id="10" name="Rectangle 9"/>
          <p:cNvSpPr/>
          <p:nvPr/>
        </p:nvSpPr>
        <p:spPr>
          <a:xfrm>
            <a:off x="3456432" y="1627632"/>
            <a:ext cx="2615184" cy="1371600"/>
          </a:xfrm>
          <a:prstGeom prst="rect">
            <a:avLst/>
          </a:prstGeom>
          <a:solidFill>
            <a:srgbClr val="F6F7F4"/>
          </a:solidFill>
          <a:ln w="12700">
            <a:solidFill>
              <a:srgbClr val="DDE2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456432" y="1627632"/>
            <a:ext cx="50292" cy="137160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12464" y="1773936"/>
            <a:ext cx="2203704" cy="320040"/>
          </a:xfrm>
          <a:prstGeom prst="rect">
            <a:avLst/>
          </a:prstGeom>
          <a:noFill/>
        </p:spPr>
        <p:txBody>
          <a:bodyPr wrap="square" anchor="t">
            <a:spAutoFit/>
          </a:bodyPr>
          <a:lstStyle/>
          <a:p>
            <a:pPr algn="l"/>
            <a:r>
              <a:rPr sz="1200" b="1">
                <a:solidFill>
                  <a:srgbClr val="8A9098"/>
                </a:solidFill>
                <a:latin typeface="Calibri"/>
              </a:rPr>
              <a:t>FRUTAS</a:t>
            </a:r>
          </a:p>
        </p:txBody>
      </p:sp>
      <p:sp>
        <p:nvSpPr>
          <p:cNvPr id="13" name="TextBox 12"/>
          <p:cNvSpPr txBox="1"/>
          <p:nvPr/>
        </p:nvSpPr>
        <p:spPr>
          <a:xfrm>
            <a:off x="3712464" y="2103120"/>
            <a:ext cx="2203704" cy="566928"/>
          </a:xfrm>
          <a:prstGeom prst="rect">
            <a:avLst/>
          </a:prstGeom>
          <a:noFill/>
        </p:spPr>
        <p:txBody>
          <a:bodyPr wrap="square" anchor="t">
            <a:spAutoFit/>
          </a:bodyPr>
          <a:lstStyle/>
          <a:p>
            <a:pPr algn="l"/>
            <a:r>
              <a:rPr sz="3000" b="1">
                <a:solidFill>
                  <a:srgbClr val="1F6FB2"/>
                </a:solidFill>
                <a:latin typeface="Calibri"/>
              </a:rPr>
              <a:t>478</a:t>
            </a:r>
          </a:p>
        </p:txBody>
      </p:sp>
      <p:sp>
        <p:nvSpPr>
          <p:cNvPr id="14" name="TextBox 13"/>
          <p:cNvSpPr txBox="1"/>
          <p:nvPr/>
        </p:nvSpPr>
        <p:spPr>
          <a:xfrm>
            <a:off x="3712464" y="2432304"/>
            <a:ext cx="2203704" cy="457200"/>
          </a:xfrm>
          <a:prstGeom prst="rect">
            <a:avLst/>
          </a:prstGeom>
          <a:noFill/>
        </p:spPr>
        <p:txBody>
          <a:bodyPr wrap="square" anchor="t">
            <a:spAutoFit/>
          </a:bodyPr>
          <a:lstStyle/>
          <a:p>
            <a:pPr algn="l"/>
            <a:r>
              <a:rPr sz="1100" b="0">
                <a:solidFill>
                  <a:srgbClr val="8A9098"/>
                </a:solidFill>
                <a:latin typeface="Calibri"/>
              </a:rPr>
              <a:t>hasta 26 días c/u</a:t>
            </a:r>
          </a:p>
        </p:txBody>
      </p:sp>
      <p:sp>
        <p:nvSpPr>
          <p:cNvPr id="15" name="Rectangle 14"/>
          <p:cNvSpPr/>
          <p:nvPr/>
        </p:nvSpPr>
        <p:spPr>
          <a:xfrm>
            <a:off x="6272784" y="1627632"/>
            <a:ext cx="2615184" cy="1371600"/>
          </a:xfrm>
          <a:prstGeom prst="rect">
            <a:avLst/>
          </a:prstGeom>
          <a:solidFill>
            <a:srgbClr val="F6F7F4"/>
          </a:solidFill>
          <a:ln w="12700">
            <a:solidFill>
              <a:srgbClr val="DDE2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272784" y="1627632"/>
            <a:ext cx="50292" cy="1371600"/>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28816" y="1773936"/>
            <a:ext cx="2203704" cy="320040"/>
          </a:xfrm>
          <a:prstGeom prst="rect">
            <a:avLst/>
          </a:prstGeom>
          <a:noFill/>
        </p:spPr>
        <p:txBody>
          <a:bodyPr wrap="square" anchor="t">
            <a:spAutoFit/>
          </a:bodyPr>
          <a:lstStyle/>
          <a:p>
            <a:pPr algn="l"/>
            <a:r>
              <a:rPr sz="1200" b="1">
                <a:solidFill>
                  <a:srgbClr val="8A9098"/>
                </a:solidFill>
                <a:latin typeface="Calibri"/>
              </a:rPr>
              <a:t>TRAIN / VAL / TEST</a:t>
            </a:r>
          </a:p>
        </p:txBody>
      </p:sp>
      <p:sp>
        <p:nvSpPr>
          <p:cNvPr id="18" name="TextBox 17"/>
          <p:cNvSpPr txBox="1"/>
          <p:nvPr/>
        </p:nvSpPr>
        <p:spPr>
          <a:xfrm>
            <a:off x="6528816" y="2103120"/>
            <a:ext cx="2203704" cy="566928"/>
          </a:xfrm>
          <a:prstGeom prst="rect">
            <a:avLst/>
          </a:prstGeom>
          <a:noFill/>
        </p:spPr>
        <p:txBody>
          <a:bodyPr wrap="square" anchor="t">
            <a:spAutoFit/>
          </a:bodyPr>
          <a:lstStyle/>
          <a:p>
            <a:pPr algn="l"/>
            <a:r>
              <a:rPr sz="3000" b="1">
                <a:solidFill>
                  <a:srgbClr val="6A4C93"/>
                </a:solidFill>
                <a:latin typeface="Calibri"/>
              </a:rPr>
              <a:t>334 / 72 / 72</a:t>
            </a:r>
          </a:p>
        </p:txBody>
      </p:sp>
      <p:sp>
        <p:nvSpPr>
          <p:cNvPr id="19" name="TextBox 18"/>
          <p:cNvSpPr txBox="1"/>
          <p:nvPr/>
        </p:nvSpPr>
        <p:spPr>
          <a:xfrm>
            <a:off x="6528816" y="2432304"/>
            <a:ext cx="2203704" cy="457200"/>
          </a:xfrm>
          <a:prstGeom prst="rect">
            <a:avLst/>
          </a:prstGeom>
          <a:noFill/>
        </p:spPr>
        <p:txBody>
          <a:bodyPr wrap="square" anchor="t">
            <a:spAutoFit/>
          </a:bodyPr>
          <a:lstStyle/>
          <a:p>
            <a:pPr algn="l"/>
            <a:r>
              <a:rPr sz="1100" b="0">
                <a:solidFill>
                  <a:srgbClr val="8A9098"/>
                </a:solidFill>
                <a:latin typeface="Calibri"/>
              </a:rPr>
              <a:t>frutas, no imágenes</a:t>
            </a:r>
          </a:p>
        </p:txBody>
      </p:sp>
      <p:sp>
        <p:nvSpPr>
          <p:cNvPr id="20" name="Rectangle 19"/>
          <p:cNvSpPr/>
          <p:nvPr/>
        </p:nvSpPr>
        <p:spPr>
          <a:xfrm>
            <a:off x="9089136" y="1627632"/>
            <a:ext cx="2615184" cy="1371600"/>
          </a:xfrm>
          <a:prstGeom prst="rect">
            <a:avLst/>
          </a:prstGeom>
          <a:solidFill>
            <a:srgbClr val="F6F7F4"/>
          </a:solidFill>
          <a:ln w="12700">
            <a:solidFill>
              <a:srgbClr val="DDE2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089136" y="1627632"/>
            <a:ext cx="50292" cy="1371600"/>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45168" y="1773936"/>
            <a:ext cx="2203704" cy="320040"/>
          </a:xfrm>
          <a:prstGeom prst="rect">
            <a:avLst/>
          </a:prstGeom>
          <a:noFill/>
        </p:spPr>
        <p:txBody>
          <a:bodyPr wrap="square" anchor="t">
            <a:spAutoFit/>
          </a:bodyPr>
          <a:lstStyle/>
          <a:p>
            <a:pPr algn="l"/>
            <a:r>
              <a:rPr sz="1200" b="1">
                <a:solidFill>
                  <a:srgbClr val="8A9098"/>
                </a:solidFill>
                <a:latin typeface="Calibri"/>
              </a:rPr>
              <a:t>LICENCIA</a:t>
            </a:r>
          </a:p>
        </p:txBody>
      </p:sp>
      <p:sp>
        <p:nvSpPr>
          <p:cNvPr id="23" name="TextBox 22"/>
          <p:cNvSpPr txBox="1"/>
          <p:nvPr/>
        </p:nvSpPr>
        <p:spPr>
          <a:xfrm>
            <a:off x="9345168" y="2103120"/>
            <a:ext cx="2203704" cy="566928"/>
          </a:xfrm>
          <a:prstGeom prst="rect">
            <a:avLst/>
          </a:prstGeom>
          <a:noFill/>
        </p:spPr>
        <p:txBody>
          <a:bodyPr wrap="square" anchor="t">
            <a:spAutoFit/>
          </a:bodyPr>
          <a:lstStyle/>
          <a:p>
            <a:pPr algn="l"/>
            <a:r>
              <a:rPr sz="3000" b="1">
                <a:solidFill>
                  <a:srgbClr val="D1495B"/>
                </a:solidFill>
                <a:latin typeface="Calibri"/>
              </a:rPr>
              <a:t>CC BY 4.0</a:t>
            </a:r>
          </a:p>
        </p:txBody>
      </p:sp>
      <p:sp>
        <p:nvSpPr>
          <p:cNvPr id="24" name="TextBox 23"/>
          <p:cNvSpPr txBox="1"/>
          <p:nvPr/>
        </p:nvSpPr>
        <p:spPr>
          <a:xfrm>
            <a:off x="9345168" y="2432304"/>
            <a:ext cx="2203704" cy="457200"/>
          </a:xfrm>
          <a:prstGeom prst="rect">
            <a:avLst/>
          </a:prstGeom>
          <a:noFill/>
        </p:spPr>
        <p:txBody>
          <a:bodyPr wrap="square" anchor="t">
            <a:spAutoFit/>
          </a:bodyPr>
          <a:lstStyle/>
          <a:p>
            <a:pPr algn="l"/>
            <a:r>
              <a:rPr sz="1100" b="0">
                <a:solidFill>
                  <a:srgbClr val="8A9098"/>
                </a:solidFill>
                <a:latin typeface="Calibri"/>
              </a:rPr>
              <a:t>uso libre con atribución</a:t>
            </a:r>
          </a:p>
        </p:txBody>
      </p:sp>
      <p:sp>
        <p:nvSpPr>
          <p:cNvPr id="25" name="TextBox 24"/>
          <p:cNvSpPr txBox="1"/>
          <p:nvPr/>
        </p:nvSpPr>
        <p:spPr>
          <a:xfrm>
            <a:off x="640080" y="3227832"/>
            <a:ext cx="10881360" cy="4206240"/>
          </a:xfrm>
          <a:prstGeom prst="rect">
            <a:avLst/>
          </a:prstGeom>
          <a:noFill/>
        </p:spPr>
        <p:txBody>
          <a:bodyPr wrap="square">
            <a:spAutoFit/>
          </a:bodyPr>
          <a:lstStyle/>
          <a:p>
            <a:pPr>
              <a:spcAft>
                <a:spcPts val="1300"/>
              </a:spcAft>
            </a:pPr>
            <a:r>
              <a:rPr sz="1500" b="1">
                <a:solidFill>
                  <a:srgbClr val="8FB339"/>
                </a:solidFill>
              </a:rPr>
              <a:t>▪  </a:t>
            </a:r>
            <a:r>
              <a:rPr sz="1500" b="1">
                <a:solidFill>
                  <a:srgbClr val="444A52"/>
                </a:solidFill>
              </a:rPr>
              <a:t>Fuga longitudinal — resuelta.</a:t>
            </a:r>
          </a:p>
          <a:p>
            <a:pPr>
              <a:spcAft>
                <a:spcPts val="1300"/>
              </a:spcAft>
            </a:pPr>
            <a:r>
              <a:rPr sz="1500" b="1">
                <a:solidFill>
                  <a:srgbClr val="8FB339"/>
                </a:solidFill>
              </a:rPr>
              <a:t>▪  </a:t>
            </a:r>
            <a:r>
              <a:rPr sz="1500" b="0">
                <a:solidFill>
                  <a:srgbClr val="444A52"/>
                </a:solidFill>
              </a:rPr>
              <a:t>6.871 pares de días consecutivos de la misma fruta. Partimos frutas, no imágenes, con un assert que falla si una fruta aparece en dos particiones.</a:t>
            </a:r>
          </a:p>
          <a:p>
            <a:pPr>
              <a:spcAft>
                <a:spcPts val="1300"/>
              </a:spcAft>
            </a:pPr>
            <a:r>
              <a:rPr sz="1500" b="1">
                <a:solidFill>
                  <a:srgbClr val="8FB339"/>
                </a:solidFill>
              </a:rPr>
              <a:t>▪  </a:t>
            </a:r>
            <a:r>
              <a:rPr sz="1500" b="1">
                <a:solidFill>
                  <a:srgbClr val="444A52"/>
                </a:solidFill>
              </a:rPr>
              <a:t>Domain gap laboratorio → terreno — no resuelta, declarada.</a:t>
            </a:r>
          </a:p>
          <a:p>
            <a:pPr>
              <a:spcAft>
                <a:spcPts val="1300"/>
              </a:spcAft>
            </a:pPr>
            <a:r>
              <a:rPr sz="1500" b="1">
                <a:solidFill>
                  <a:srgbClr val="8FB339"/>
                </a:solidFill>
              </a:rPr>
              <a:t>▪  </a:t>
            </a:r>
            <a:r>
              <a:rPr sz="1500" b="0">
                <a:solidFill>
                  <a:srgbClr val="444A52"/>
                </a:solidFill>
              </a:rPr>
              <a:t>Fondo blanco uniforme, una sola fruta centrada, iluminación difusa controlada, distancia fija. Una foto de celular en una feria está fuera de distribución. Es la limitación que decide si esto sirve en un packing o solo en un paper.</a:t>
            </a:r>
          </a:p>
          <a:p>
            <a:pPr>
              <a:spcAft>
                <a:spcPts val="1300"/>
              </a:spcAft>
            </a:pPr>
            <a:r>
              <a:rPr sz="1500" b="1">
                <a:solidFill>
                  <a:srgbClr val="8FB339"/>
                </a:solidFill>
              </a:rPr>
              <a:t>▪  </a:t>
            </a:r>
            <a:r>
              <a:rPr sz="1500" b="1">
                <a:solidFill>
                  <a:srgbClr val="444A52"/>
                </a:solidFill>
              </a:rPr>
              <a:t>Un lote, una cosecha, un cultivar, etiquetas subjetivas.</a:t>
            </a:r>
          </a:p>
          <a:p>
            <a:pPr>
              <a:spcAft>
                <a:spcPts val="1300"/>
              </a:spcAft>
            </a:pPr>
            <a:r>
              <a:rPr sz="1500" b="1">
                <a:solidFill>
                  <a:srgbClr val="8FB339"/>
                </a:solidFill>
              </a:rPr>
              <a:t>▪  </a:t>
            </a:r>
            <a:r>
              <a:rPr sz="1500" b="0">
                <a:solidFill>
                  <a:srgbClr val="444A52"/>
                </a:solidFill>
              </a:rPr>
              <a:t>478 frutas portuguesas de 2022, solo Hass, etiquetado visual sin acuerdo inter-evaluador reportado: no conocemos el techo humano de esta tarea.</a:t>
            </a:r>
          </a:p>
        </p:txBody>
      </p:sp>
      <p:sp>
        <p:nvSpPr>
          <p:cNvPr id="26" name="Rectangle 25"/>
          <p:cNvSpPr/>
          <p:nvPr/>
        </p:nvSpPr>
        <p:spPr>
          <a:xfrm>
            <a:off x="640080" y="6144768"/>
            <a:ext cx="45720" cy="384048"/>
          </a:xfrm>
          <a:prstGeom prst="rect">
            <a:avLst/>
          </a:prstGeom>
          <a:solidFill>
            <a:srgbClr val="8FB3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1248" y="6126480"/>
            <a:ext cx="10698480" cy="457200"/>
          </a:xfrm>
          <a:prstGeom prst="rect">
            <a:avLst/>
          </a:prstGeom>
          <a:noFill/>
        </p:spPr>
        <p:txBody>
          <a:bodyPr wrap="square" anchor="ctr">
            <a:spAutoFit/>
          </a:bodyPr>
          <a:lstStyle/>
          <a:p>
            <a:pPr algn="l"/>
            <a:r>
              <a:rPr sz="1300" b="0">
                <a:solidFill>
                  <a:srgbClr val="8A9098"/>
                </a:solidFill>
                <a:latin typeface="Calibri"/>
              </a:rPr>
              <a:t>Detalle completo en la data card (entregables/final/data_card.md).</a:t>
            </a:r>
          </a:p>
        </p:txBody>
      </p:sp>
      <p:sp>
        <p:nvSpPr>
          <p:cNvPr id="28" name="TextBox 27"/>
          <p:cNvSpPr txBox="1"/>
          <p:nvPr/>
        </p:nvSpPr>
        <p:spPr>
          <a:xfrm>
            <a:off x="11140135" y="6355080"/>
            <a:ext cx="640080" cy="320040"/>
          </a:xfrm>
          <a:prstGeom prst="rect">
            <a:avLst/>
          </a:prstGeom>
          <a:noFill/>
        </p:spPr>
        <p:txBody>
          <a:bodyPr wrap="square" anchor="t">
            <a:spAutoFit/>
          </a:bodyPr>
          <a:lstStyle/>
          <a:p>
            <a:pPr algn="r"/>
            <a:r>
              <a:rPr sz="1100" b="0">
                <a:solidFill>
                  <a:srgbClr val="8A9098"/>
                </a:solidFill>
                <a:latin typeface="Calibri"/>
              </a:rPr>
              <a:t>3/13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972800" cy="685800"/>
          </a:xfrm>
          <a:prstGeom prst="rect">
            <a:avLst/>
          </a:prstGeom>
          <a:noFill/>
        </p:spPr>
        <p:txBody>
          <a:bodyPr wrap="square" anchor="t">
            <a:spAutoFit/>
          </a:bodyPr>
          <a:lstStyle/>
          <a:p>
            <a:pPr algn="l"/>
            <a:r>
              <a:rPr sz="3000" b="1">
                <a:solidFill>
                  <a:srgbClr val="2E6B2F"/>
                </a:solidFill>
                <a:latin typeface="Calibri"/>
              </a:rPr>
              <a:t>Diseño de la comparación</a:t>
            </a:r>
          </a:p>
        </p:txBody>
      </p:sp>
      <p:sp>
        <p:nvSpPr>
          <p:cNvPr id="3" name="TextBox 2"/>
          <p:cNvSpPr txBox="1"/>
          <p:nvPr/>
        </p:nvSpPr>
        <p:spPr>
          <a:xfrm>
            <a:off x="640080" y="1078992"/>
            <a:ext cx="10972800" cy="457200"/>
          </a:xfrm>
          <a:prstGeom prst="rect">
            <a:avLst/>
          </a:prstGeom>
          <a:noFill/>
        </p:spPr>
        <p:txBody>
          <a:bodyPr wrap="square" anchor="t">
            <a:spAutoFit/>
          </a:bodyPr>
          <a:lstStyle/>
          <a:p>
            <a:pPr algn="l"/>
            <a:r>
              <a:rPr sz="1500" b="0">
                <a:solidFill>
                  <a:srgbClr val="8A9098"/>
                </a:solidFill>
                <a:latin typeface="Calibri"/>
              </a:rPr>
              <a:t>Tres ejes igualados, no solo los parámetros</a:t>
            </a:r>
          </a:p>
        </p:txBody>
      </p:sp>
      <p:sp>
        <p:nvSpPr>
          <p:cNvPr id="4" name="Rectangle 3"/>
          <p:cNvSpPr/>
          <p:nvPr/>
        </p:nvSpPr>
        <p:spPr>
          <a:xfrm>
            <a:off x="640080" y="1024128"/>
            <a:ext cx="1371600" cy="32004"/>
          </a:xfrm>
          <a:prstGeom prst="rect">
            <a:avLst/>
          </a:prstGeom>
          <a:solidFill>
            <a:srgbClr val="8FB3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40080" y="1627632"/>
          <a:ext cx="10881360" cy="1371600"/>
        </p:xfrm>
        <a:graphic>
          <a:graphicData uri="http://schemas.openxmlformats.org/drawingml/2006/table">
            <a:tbl>
              <a:tblPr firstRow="1" bandRow="1">
                <a:tableStyleId>{5C22544A-7EE6-4342-B048-85BDC9FD1C3A}</a:tableStyleId>
              </a:tblPr>
              <a:tblGrid>
                <a:gridCol w="3627120"/>
                <a:gridCol w="2418080"/>
                <a:gridCol w="2901696"/>
                <a:gridCol w="1934464"/>
              </a:tblGrid>
              <a:tr h="384048">
                <a:tc>
                  <a:txBody>
                    <a:bodyPr/>
                    <a:lstStyle/>
                    <a:p>
                      <a:pPr algn="l"/>
                      <a:r>
                        <a:rPr sz="1400" b="1">
                          <a:solidFill>
                            <a:srgbClr val="FFFFFF"/>
                          </a:solidFill>
                          <a:latin typeface="Calibri"/>
                        </a:rPr>
                        <a:t>Eje igualado</a:t>
                      </a:r>
                    </a:p>
                  </a:txBody>
                  <a:tcPr anchor="ctr" marL="82296" marR="82296">
                    <a:solidFill>
                      <a:srgbClr val="2E6B2F"/>
                    </a:solidFill>
                  </a:tcPr>
                </a:tc>
                <a:tc>
                  <a:txBody>
                    <a:bodyPr/>
                    <a:lstStyle/>
                    <a:p>
                      <a:pPr algn="ctr"/>
                      <a:r>
                        <a:rPr sz="1400" b="1">
                          <a:solidFill>
                            <a:srgbClr val="FFFFFF"/>
                          </a:solidFill>
                          <a:latin typeface="Calibri"/>
                        </a:rPr>
                        <a:t>ResNet-50</a:t>
                      </a:r>
                    </a:p>
                  </a:txBody>
                  <a:tcPr anchor="ctr" marL="82296" marR="82296">
                    <a:solidFill>
                      <a:srgbClr val="2E6B2F"/>
                    </a:solidFill>
                  </a:tcPr>
                </a:tc>
                <a:tc>
                  <a:txBody>
                    <a:bodyPr/>
                    <a:lstStyle/>
                    <a:p>
                      <a:pPr algn="ctr"/>
                      <a:r>
                        <a:rPr sz="1400" b="1">
                          <a:solidFill>
                            <a:srgbClr val="FFFFFF"/>
                          </a:solidFill>
                          <a:latin typeface="Calibri"/>
                        </a:rPr>
                        <a:t>ViT-S/16 (DeiT-S)</a:t>
                      </a:r>
                    </a:p>
                  </a:txBody>
                  <a:tcPr anchor="ctr" marL="82296" marR="82296">
                    <a:solidFill>
                      <a:srgbClr val="2E6B2F"/>
                    </a:solidFill>
                  </a:tcPr>
                </a:tc>
                <a:tc>
                  <a:txBody>
                    <a:bodyPr/>
                    <a:lstStyle/>
                    <a:p>
                      <a:pPr algn="ctr"/>
                      <a:r>
                        <a:rPr sz="1400" b="1">
                          <a:solidFill>
                            <a:srgbClr val="FFFFFF"/>
                          </a:solidFill>
                          <a:latin typeface="Calibri"/>
                        </a:rPr>
                        <a:t>Diferencia</a:t>
                      </a:r>
                    </a:p>
                  </a:txBody>
                  <a:tcPr anchor="ctr" marL="82296" marR="82296">
                    <a:solidFill>
                      <a:srgbClr val="2E6B2F"/>
                    </a:solidFill>
                  </a:tcPr>
                </a:tc>
              </a:tr>
              <a:tr h="329184">
                <a:tc>
                  <a:txBody>
                    <a:bodyPr/>
                    <a:lstStyle/>
                    <a:p>
                      <a:pPr algn="l"/>
                      <a:r>
                        <a:rPr sz="1400" b="0">
                          <a:solidFill>
                            <a:srgbClr val="444A52"/>
                          </a:solidFill>
                          <a:latin typeface="Calibri"/>
                        </a:rPr>
                        <a:t>Parámetros</a:t>
                      </a:r>
                    </a:p>
                  </a:txBody>
                  <a:tcPr anchor="ctr" marL="82296" marR="82296">
                    <a:solidFill>
                      <a:srgbClr val="FFFFFF"/>
                    </a:solidFill>
                  </a:tcPr>
                </a:tc>
                <a:tc>
                  <a:txBody>
                    <a:bodyPr/>
                    <a:lstStyle/>
                    <a:p>
                      <a:pPr algn="ctr"/>
                      <a:r>
                        <a:rPr sz="1400" b="0">
                          <a:solidFill>
                            <a:srgbClr val="444A52"/>
                          </a:solidFill>
                          <a:latin typeface="Calibri"/>
                        </a:rPr>
                        <a:t>23.52 M</a:t>
                      </a:r>
                    </a:p>
                  </a:txBody>
                  <a:tcPr anchor="ctr" marL="82296" marR="82296">
                    <a:solidFill>
                      <a:srgbClr val="FFFFFF"/>
                    </a:solidFill>
                  </a:tcPr>
                </a:tc>
                <a:tc>
                  <a:txBody>
                    <a:bodyPr/>
                    <a:lstStyle/>
                    <a:p>
                      <a:pPr algn="ctr"/>
                      <a:r>
                        <a:rPr sz="1400" b="0">
                          <a:solidFill>
                            <a:srgbClr val="444A52"/>
                          </a:solidFill>
                          <a:latin typeface="Calibri"/>
                        </a:rPr>
                        <a:t>21.67 M</a:t>
                      </a:r>
                    </a:p>
                  </a:txBody>
                  <a:tcPr anchor="ctr" marL="82296" marR="82296">
                    <a:solidFill>
                      <a:srgbClr val="FFFFFF"/>
                    </a:solidFill>
                  </a:tcPr>
                </a:tc>
                <a:tc>
                  <a:txBody>
                    <a:bodyPr/>
                    <a:lstStyle/>
                    <a:p>
                      <a:pPr algn="ctr"/>
                      <a:r>
                        <a:rPr sz="1400" b="0">
                          <a:solidFill>
                            <a:srgbClr val="444A52"/>
                          </a:solidFill>
                          <a:latin typeface="Calibri"/>
                        </a:rPr>
                        <a:t>7.9 %</a:t>
                      </a:r>
                    </a:p>
                  </a:txBody>
                  <a:tcPr anchor="ctr" marL="82296" marR="82296">
                    <a:solidFill>
                      <a:srgbClr val="FFFFFF"/>
                    </a:solidFill>
                  </a:tcPr>
                </a:tc>
              </a:tr>
              <a:tr h="329184">
                <a:tc>
                  <a:txBody>
                    <a:bodyPr/>
                    <a:lstStyle/>
                    <a:p>
                      <a:pPr algn="l"/>
                      <a:r>
                        <a:rPr sz="1400" b="0">
                          <a:solidFill>
                            <a:srgbClr val="444A52"/>
                          </a:solidFill>
                          <a:latin typeface="Calibri"/>
                        </a:rPr>
                        <a:t>GFLOPs @ 224 px</a:t>
                      </a:r>
                    </a:p>
                  </a:txBody>
                  <a:tcPr anchor="ctr" marL="82296" marR="82296">
                    <a:solidFill>
                      <a:srgbClr val="F6F7F4"/>
                    </a:solidFill>
                  </a:tcPr>
                </a:tc>
                <a:tc>
                  <a:txBody>
                    <a:bodyPr/>
                    <a:lstStyle/>
                    <a:p>
                      <a:pPr algn="ctr"/>
                      <a:r>
                        <a:rPr sz="1400" b="0">
                          <a:solidFill>
                            <a:srgbClr val="444A52"/>
                          </a:solidFill>
                          <a:latin typeface="Calibri"/>
                        </a:rPr>
                        <a:t>8.17</a:t>
                      </a:r>
                    </a:p>
                  </a:txBody>
                  <a:tcPr anchor="ctr" marL="82296" marR="82296">
                    <a:solidFill>
                      <a:srgbClr val="F6F7F4"/>
                    </a:solidFill>
                  </a:tcPr>
                </a:tc>
                <a:tc>
                  <a:txBody>
                    <a:bodyPr/>
                    <a:lstStyle/>
                    <a:p>
                      <a:pPr algn="ctr"/>
                      <a:r>
                        <a:rPr sz="1400" b="0">
                          <a:solidFill>
                            <a:srgbClr val="444A52"/>
                          </a:solidFill>
                          <a:latin typeface="Calibri"/>
                        </a:rPr>
                        <a:t>8.48</a:t>
                      </a:r>
                    </a:p>
                  </a:txBody>
                  <a:tcPr anchor="ctr" marL="82296" marR="82296">
                    <a:solidFill>
                      <a:srgbClr val="F6F7F4"/>
                    </a:solidFill>
                  </a:tcPr>
                </a:tc>
                <a:tc>
                  <a:txBody>
                    <a:bodyPr/>
                    <a:lstStyle/>
                    <a:p>
                      <a:pPr algn="ctr"/>
                      <a:r>
                        <a:rPr sz="1400" b="0">
                          <a:solidFill>
                            <a:srgbClr val="444A52"/>
                          </a:solidFill>
                          <a:latin typeface="Calibri"/>
                        </a:rPr>
                        <a:t>3.6 %</a:t>
                      </a:r>
                    </a:p>
                  </a:txBody>
                  <a:tcPr anchor="ctr" marL="82296" marR="82296">
                    <a:solidFill>
                      <a:srgbClr val="F6F7F4"/>
                    </a:solidFill>
                  </a:tcPr>
                </a:tc>
              </a:tr>
              <a:tr h="329184">
                <a:tc>
                  <a:txBody>
                    <a:bodyPr/>
                    <a:lstStyle/>
                    <a:p>
                      <a:pPr algn="l"/>
                      <a:r>
                        <a:rPr sz="1400" b="0">
                          <a:solidFill>
                            <a:srgbClr val="444A52"/>
                          </a:solidFill>
                          <a:latin typeface="Calibri"/>
                        </a:rPr>
                        <a:t>Pre-entrenamiento</a:t>
                      </a:r>
                    </a:p>
                  </a:txBody>
                  <a:tcPr anchor="ctr" marL="82296" marR="82296">
                    <a:solidFill>
                      <a:srgbClr val="FFFFFF"/>
                    </a:solidFill>
                  </a:tcPr>
                </a:tc>
                <a:tc>
                  <a:txBody>
                    <a:bodyPr/>
                    <a:lstStyle/>
                    <a:p>
                      <a:pPr algn="ctr"/>
                      <a:r>
                        <a:rPr sz="1400" b="0">
                          <a:solidFill>
                            <a:srgbClr val="444A52"/>
                          </a:solidFill>
                          <a:latin typeface="Calibri"/>
                        </a:rPr>
                        <a:t>ImageNet-1k</a:t>
                      </a:r>
                    </a:p>
                  </a:txBody>
                  <a:tcPr anchor="ctr" marL="82296" marR="82296">
                    <a:solidFill>
                      <a:srgbClr val="FFFFFF"/>
                    </a:solidFill>
                  </a:tcPr>
                </a:tc>
                <a:tc>
                  <a:txBody>
                    <a:bodyPr/>
                    <a:lstStyle/>
                    <a:p>
                      <a:pPr algn="ctr"/>
                      <a:r>
                        <a:rPr sz="1400" b="0">
                          <a:solidFill>
                            <a:srgbClr val="444A52"/>
                          </a:solidFill>
                          <a:latin typeface="Calibri"/>
                        </a:rPr>
                        <a:t>ImageNet-1k</a:t>
                      </a:r>
                    </a:p>
                  </a:txBody>
                  <a:tcPr anchor="ctr" marL="82296" marR="82296">
                    <a:solidFill>
                      <a:srgbClr val="FFFFFF"/>
                    </a:solidFill>
                  </a:tcPr>
                </a:tc>
                <a:tc>
                  <a:txBody>
                    <a:bodyPr/>
                    <a:lstStyle/>
                    <a:p>
                      <a:pPr algn="ctr"/>
                      <a:r>
                        <a:rPr sz="1400" b="0">
                          <a:solidFill>
                            <a:srgbClr val="444A52"/>
                          </a:solidFill>
                          <a:latin typeface="Calibri"/>
                        </a:rPr>
                        <a:t>ninguna</a:t>
                      </a:r>
                    </a:p>
                  </a:txBody>
                  <a:tcPr anchor="ctr" marL="82296" marR="82296">
                    <a:solidFill>
                      <a:srgbClr val="FFFFFF"/>
                    </a:solidFill>
                  </a:tcPr>
                </a:tc>
              </a:tr>
            </a:tbl>
          </a:graphicData>
        </a:graphic>
      </p:graphicFrame>
      <p:sp>
        <p:nvSpPr>
          <p:cNvPr id="6" name="TextBox 5"/>
          <p:cNvSpPr txBox="1"/>
          <p:nvPr/>
        </p:nvSpPr>
        <p:spPr>
          <a:xfrm>
            <a:off x="640080" y="3776472"/>
            <a:ext cx="10881360" cy="4206240"/>
          </a:xfrm>
          <a:prstGeom prst="rect">
            <a:avLst/>
          </a:prstGeom>
          <a:noFill/>
        </p:spPr>
        <p:txBody>
          <a:bodyPr wrap="square">
            <a:spAutoFit/>
          </a:bodyPr>
          <a:lstStyle/>
          <a:p>
            <a:pPr>
              <a:spcAft>
                <a:spcPts val="1300"/>
              </a:spcAft>
            </a:pPr>
            <a:r>
              <a:rPr sz="1500" b="1">
                <a:solidFill>
                  <a:srgbClr val="8FB339"/>
                </a:solidFill>
              </a:rPr>
              <a:t>▪  </a:t>
            </a:r>
            <a:r>
              <a:rPr sz="1500" b="1">
                <a:solidFill>
                  <a:srgbClr val="444A52"/>
                </a:solidFill>
              </a:rPr>
              <a:t>El pre-entrenamiento es el eje que casi nadie iguala.</a:t>
            </a:r>
          </a:p>
          <a:p>
            <a:pPr>
              <a:spcAft>
                <a:spcPts val="1300"/>
              </a:spcAft>
            </a:pPr>
            <a:r>
              <a:rPr sz="1500" b="1">
                <a:solidFill>
                  <a:srgbClr val="8FB339"/>
                </a:solidFill>
              </a:rPr>
              <a:t>▪  </a:t>
            </a:r>
            <a:r>
              <a:rPr sz="1500" b="0">
                <a:solidFill>
                  <a:srgbClr val="444A52"/>
                </a:solidFill>
              </a:rPr>
              <a:t>Los pesos ViT-S habituales de timm vienen de ImageNet-21k: catorce veces más datos. Con esos pesos la comparación mediría el corpus, no la arquitectura. Usamos DeiT-S, misma arquitectura entrenada solo en ImageNet-1k.</a:t>
            </a:r>
          </a:p>
          <a:p>
            <a:pPr>
              <a:spcAft>
                <a:spcPts val="1300"/>
              </a:spcAft>
            </a:pPr>
            <a:r>
              <a:rPr sz="1500" b="1">
                <a:solidFill>
                  <a:srgbClr val="8FB339"/>
                </a:solidFill>
              </a:rPr>
              <a:t>▪  </a:t>
            </a:r>
            <a:r>
              <a:rPr sz="1500" b="0">
                <a:solidFill>
                  <a:srgbClr val="444A52"/>
                </a:solidFill>
              </a:rPr>
              <a:t>Receta idéntica; el ViT solo cambia LR (3× menor), warmup y drop_path, porque diverge con la receta de la CNN.</a:t>
            </a:r>
          </a:p>
        </p:txBody>
      </p:sp>
      <p:sp>
        <p:nvSpPr>
          <p:cNvPr id="7" name="Rectangle 6"/>
          <p:cNvSpPr/>
          <p:nvPr/>
        </p:nvSpPr>
        <p:spPr>
          <a:xfrm>
            <a:off x="640080" y="6144768"/>
            <a:ext cx="45720" cy="384048"/>
          </a:xfrm>
          <a:prstGeom prst="rect">
            <a:avLst/>
          </a:prstGeom>
          <a:solidFill>
            <a:srgbClr val="8FB3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6126480"/>
            <a:ext cx="10698480" cy="457200"/>
          </a:xfrm>
          <a:prstGeom prst="rect">
            <a:avLst/>
          </a:prstGeom>
          <a:noFill/>
        </p:spPr>
        <p:txBody>
          <a:bodyPr wrap="square" anchor="ctr">
            <a:spAutoFit/>
          </a:bodyPr>
          <a:lstStyle/>
          <a:p>
            <a:pPr algn="l"/>
            <a:r>
              <a:rPr sz="1300" b="0">
                <a:solidFill>
                  <a:srgbClr val="8A9098"/>
                </a:solidFill>
                <a:latin typeface="Calibri"/>
              </a:rPr>
              <a:t>Todo el código de la comparación está en el repositorio y se reproduce con un comando.</a:t>
            </a:r>
          </a:p>
        </p:txBody>
      </p:sp>
      <p:sp>
        <p:nvSpPr>
          <p:cNvPr id="9" name="TextBox 8"/>
          <p:cNvSpPr txBox="1"/>
          <p:nvPr/>
        </p:nvSpPr>
        <p:spPr>
          <a:xfrm>
            <a:off x="11140135" y="6355080"/>
            <a:ext cx="640080" cy="320040"/>
          </a:xfrm>
          <a:prstGeom prst="rect">
            <a:avLst/>
          </a:prstGeom>
          <a:noFill/>
        </p:spPr>
        <p:txBody>
          <a:bodyPr wrap="square" anchor="t">
            <a:spAutoFit/>
          </a:bodyPr>
          <a:lstStyle/>
          <a:p>
            <a:pPr algn="r"/>
            <a:r>
              <a:rPr sz="1100" b="0">
                <a:solidFill>
                  <a:srgbClr val="8A9098"/>
                </a:solidFill>
                <a:latin typeface="Calibri"/>
              </a:rPr>
              <a:t>4/13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651760"/>
            <a:ext cx="1097280" cy="1280160"/>
          </a:xfrm>
          <a:prstGeom prst="rect">
            <a:avLst/>
          </a:prstGeom>
          <a:noFill/>
        </p:spPr>
        <p:txBody>
          <a:bodyPr wrap="square" anchor="t">
            <a:spAutoFit/>
          </a:bodyPr>
          <a:lstStyle/>
          <a:p>
            <a:pPr algn="l"/>
            <a:r>
              <a:rPr sz="6400" b="1">
                <a:solidFill>
                  <a:srgbClr val="8FB339"/>
                </a:solidFill>
                <a:latin typeface="Calibri"/>
              </a:rPr>
              <a:t>01</a:t>
            </a:r>
          </a:p>
        </p:txBody>
      </p:sp>
      <p:sp>
        <p:nvSpPr>
          <p:cNvPr id="4" name="TextBox 3"/>
          <p:cNvSpPr txBox="1"/>
          <p:nvPr/>
        </p:nvSpPr>
        <p:spPr>
          <a:xfrm>
            <a:off x="2377440" y="2834640"/>
            <a:ext cx="8778240" cy="1097280"/>
          </a:xfrm>
          <a:prstGeom prst="rect">
            <a:avLst/>
          </a:prstGeom>
          <a:noFill/>
        </p:spPr>
        <p:txBody>
          <a:bodyPr wrap="square" anchor="t">
            <a:spAutoFit/>
          </a:bodyPr>
          <a:lstStyle/>
          <a:p>
            <a:pPr algn="l"/>
            <a:r>
              <a:rPr sz="3600" b="1">
                <a:solidFill>
                  <a:srgbClr val="2E6B2F"/>
                </a:solidFill>
                <a:latin typeface="Calibri"/>
              </a:rPr>
              <a:t>Resultados</a:t>
            </a:r>
          </a:p>
        </p:txBody>
      </p:sp>
      <p:sp>
        <p:nvSpPr>
          <p:cNvPr id="5" name="TextBox 4"/>
          <p:cNvSpPr txBox="1"/>
          <p:nvPr/>
        </p:nvSpPr>
        <p:spPr>
          <a:xfrm>
            <a:off x="11140135" y="6355080"/>
            <a:ext cx="640080" cy="320040"/>
          </a:xfrm>
          <a:prstGeom prst="rect">
            <a:avLst/>
          </a:prstGeom>
          <a:noFill/>
        </p:spPr>
        <p:txBody>
          <a:bodyPr wrap="square" anchor="t">
            <a:spAutoFit/>
          </a:bodyPr>
          <a:lstStyle/>
          <a:p>
            <a:pPr algn="r"/>
            <a:r>
              <a:rPr sz="1100" b="0">
                <a:solidFill>
                  <a:srgbClr val="8A9098"/>
                </a:solidFill>
                <a:latin typeface="Calibri"/>
              </a:rPr>
              <a:t>5/13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972800" cy="685800"/>
          </a:xfrm>
          <a:prstGeom prst="rect">
            <a:avLst/>
          </a:prstGeom>
          <a:noFill/>
        </p:spPr>
        <p:txBody>
          <a:bodyPr wrap="square" anchor="t">
            <a:spAutoFit/>
          </a:bodyPr>
          <a:lstStyle/>
          <a:p>
            <a:pPr algn="l"/>
            <a:r>
              <a:rPr sz="3000" b="1">
                <a:solidFill>
                  <a:srgbClr val="2E6B2F"/>
                </a:solidFill>
                <a:latin typeface="Calibri"/>
              </a:rPr>
              <a:t>Tabla comparativa completa</a:t>
            </a:r>
          </a:p>
        </p:txBody>
      </p:sp>
      <p:sp>
        <p:nvSpPr>
          <p:cNvPr id="3" name="TextBox 2"/>
          <p:cNvSpPr txBox="1"/>
          <p:nvPr/>
        </p:nvSpPr>
        <p:spPr>
          <a:xfrm>
            <a:off x="640080" y="1078992"/>
            <a:ext cx="10972800" cy="457200"/>
          </a:xfrm>
          <a:prstGeom prst="rect">
            <a:avLst/>
          </a:prstGeom>
          <a:noFill/>
        </p:spPr>
        <p:txBody>
          <a:bodyPr wrap="square" anchor="t">
            <a:spAutoFit/>
          </a:bodyPr>
          <a:lstStyle/>
          <a:p>
            <a:pPr algn="l"/>
            <a:r>
              <a:rPr sz="1500" b="0">
                <a:solidFill>
                  <a:srgbClr val="8A9098"/>
                </a:solidFill>
                <a:latin typeface="Calibri"/>
              </a:rPr>
              <a:t>Test: 2.262 imágenes de 72 frutas nunca vistas · IC 95 % por bootstrap agrupado por fruta</a:t>
            </a:r>
          </a:p>
        </p:txBody>
      </p:sp>
      <p:sp>
        <p:nvSpPr>
          <p:cNvPr id="4" name="Rectangle 3"/>
          <p:cNvSpPr/>
          <p:nvPr/>
        </p:nvSpPr>
        <p:spPr>
          <a:xfrm>
            <a:off x="640080" y="1024128"/>
            <a:ext cx="1371600" cy="32004"/>
          </a:xfrm>
          <a:prstGeom prst="rect">
            <a:avLst/>
          </a:prstGeom>
          <a:solidFill>
            <a:srgbClr val="8FB3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40080" y="1627632"/>
          <a:ext cx="10881355" cy="2359152"/>
        </p:xfrm>
        <a:graphic>
          <a:graphicData uri="http://schemas.openxmlformats.org/drawingml/2006/table">
            <a:tbl>
              <a:tblPr firstRow="1" bandRow="1">
                <a:tableStyleId>{5C22544A-7EE6-4342-B048-85BDC9FD1C3A}</a:tableStyleId>
              </a:tblPr>
              <a:tblGrid>
                <a:gridCol w="2548787"/>
                <a:gridCol w="1078332"/>
                <a:gridCol w="1078332"/>
                <a:gridCol w="1078332"/>
                <a:gridCol w="1176363"/>
                <a:gridCol w="1176363"/>
                <a:gridCol w="882272"/>
                <a:gridCol w="1078332"/>
                <a:gridCol w="784242"/>
              </a:tblGrid>
              <a:tr h="384048">
                <a:tc>
                  <a:txBody>
                    <a:bodyPr/>
                    <a:lstStyle/>
                    <a:p>
                      <a:pPr algn="l"/>
                      <a:r>
                        <a:rPr sz="1200" b="1">
                          <a:solidFill>
                            <a:srgbClr val="FFFFFF"/>
                          </a:solidFill>
                          <a:latin typeface="Calibri"/>
                        </a:rPr>
                        <a:t>Modelo</a:t>
                      </a:r>
                    </a:p>
                  </a:txBody>
                  <a:tcPr anchor="ctr" marL="82296" marR="82296">
                    <a:solidFill>
                      <a:srgbClr val="2E6B2F"/>
                    </a:solidFill>
                  </a:tcPr>
                </a:tc>
                <a:tc>
                  <a:txBody>
                    <a:bodyPr/>
                    <a:lstStyle/>
                    <a:p>
                      <a:pPr algn="ctr"/>
                      <a:r>
                        <a:rPr sz="1200" b="1">
                          <a:solidFill>
                            <a:srgbClr val="FFFFFF"/>
                          </a:solidFill>
                          <a:latin typeface="Calibri"/>
                        </a:rPr>
                        <a:t>Params</a:t>
                      </a:r>
                    </a:p>
                  </a:txBody>
                  <a:tcPr anchor="ctr" marL="82296" marR="82296">
                    <a:solidFill>
                      <a:srgbClr val="2E6B2F"/>
                    </a:solidFill>
                  </a:tcPr>
                </a:tc>
                <a:tc>
                  <a:txBody>
                    <a:bodyPr/>
                    <a:lstStyle/>
                    <a:p>
                      <a:pPr algn="ctr"/>
                      <a:r>
                        <a:rPr sz="1200" b="1">
                          <a:solidFill>
                            <a:srgbClr val="FFFFFF"/>
                          </a:solidFill>
                          <a:latin typeface="Calibri"/>
                        </a:rPr>
                        <a:t>GFLOPs</a:t>
                      </a:r>
                    </a:p>
                  </a:txBody>
                  <a:tcPr anchor="ctr" marL="82296" marR="82296">
                    <a:solidFill>
                      <a:srgbClr val="2E6B2F"/>
                    </a:solidFill>
                  </a:tcPr>
                </a:tc>
                <a:tc>
                  <a:txBody>
                    <a:bodyPr/>
                    <a:lstStyle/>
                    <a:p>
                      <a:pPr algn="ctr"/>
                      <a:r>
                        <a:rPr sz="1200" b="1">
                          <a:solidFill>
                            <a:srgbClr val="FFFFFF"/>
                          </a:solidFill>
                          <a:latin typeface="Calibri"/>
                        </a:rPr>
                        <a:t>QWK</a:t>
                      </a:r>
                    </a:p>
                  </a:txBody>
                  <a:tcPr anchor="ctr" marL="82296" marR="82296">
                    <a:solidFill>
                      <a:srgbClr val="2E6B2F"/>
                    </a:solidFill>
                  </a:tcPr>
                </a:tc>
                <a:tc>
                  <a:txBody>
                    <a:bodyPr/>
                    <a:lstStyle/>
                    <a:p>
                      <a:pPr algn="ctr"/>
                      <a:r>
                        <a:rPr sz="1200" b="1">
                          <a:solidFill>
                            <a:srgbClr val="FFFFFF"/>
                          </a:solidFill>
                          <a:latin typeface="Calibri"/>
                        </a:rPr>
                        <a:t>Accuracy</a:t>
                      </a:r>
                    </a:p>
                  </a:txBody>
                  <a:tcPr anchor="ctr" marL="82296" marR="82296">
                    <a:solidFill>
                      <a:srgbClr val="2E6B2F"/>
                    </a:solidFill>
                  </a:tcPr>
                </a:tc>
                <a:tc>
                  <a:txBody>
                    <a:bodyPr/>
                    <a:lstStyle/>
                    <a:p>
                      <a:pPr algn="ctr"/>
                      <a:r>
                        <a:rPr sz="1200" b="1">
                          <a:solidFill>
                            <a:srgbClr val="FFFFFF"/>
                          </a:solidFill>
                          <a:latin typeface="Calibri"/>
                        </a:rPr>
                        <a:t>Macro-F1</a:t>
                      </a:r>
                    </a:p>
                  </a:txBody>
                  <a:tcPr anchor="ctr" marL="82296" marR="82296">
                    <a:solidFill>
                      <a:srgbClr val="2E6B2F"/>
                    </a:solidFill>
                  </a:tcPr>
                </a:tc>
                <a:tc>
                  <a:txBody>
                    <a:bodyPr/>
                    <a:lstStyle/>
                    <a:p>
                      <a:pPr algn="ctr"/>
                      <a:r>
                        <a:rPr sz="1200" b="1">
                          <a:solidFill>
                            <a:srgbClr val="FFFFFF"/>
                          </a:solidFill>
                          <a:latin typeface="Calibri"/>
                        </a:rPr>
                        <a:t>MAE</a:t>
                      </a:r>
                    </a:p>
                  </a:txBody>
                  <a:tcPr anchor="ctr" marL="82296" marR="82296">
                    <a:solidFill>
                      <a:srgbClr val="2E6B2F"/>
                    </a:solidFill>
                  </a:tcPr>
                </a:tc>
                <a:tc>
                  <a:txBody>
                    <a:bodyPr/>
                    <a:lstStyle/>
                    <a:p>
                      <a:pPr algn="ctr"/>
                      <a:r>
                        <a:rPr sz="1200" b="1">
                          <a:solidFill>
                            <a:srgbClr val="FFFFFF"/>
                          </a:solidFill>
                          <a:latin typeface="Calibri"/>
                        </a:rPr>
                        <a:t>Acc. ±1</a:t>
                      </a:r>
                    </a:p>
                  </a:txBody>
                  <a:tcPr anchor="ctr" marL="82296" marR="82296">
                    <a:solidFill>
                      <a:srgbClr val="2E6B2F"/>
                    </a:solidFill>
                  </a:tcPr>
                </a:tc>
                <a:tc>
                  <a:txBody>
                    <a:bodyPr/>
                    <a:lstStyle/>
                    <a:p>
                      <a:pPr algn="ctr"/>
                      <a:r>
                        <a:rPr sz="1200" b="1">
                          <a:solidFill>
                            <a:srgbClr val="FFFFFF"/>
                          </a:solidFill>
                          <a:latin typeface="Calibri"/>
                        </a:rPr>
                        <a:t>min</a:t>
                      </a:r>
                    </a:p>
                  </a:txBody>
                  <a:tcPr anchor="ctr" marL="82296" marR="82296">
                    <a:solidFill>
                      <a:srgbClr val="2E6B2F"/>
                    </a:solidFill>
                  </a:tcPr>
                </a:tc>
              </a:tr>
              <a:tr h="329184">
                <a:tc>
                  <a:txBody>
                    <a:bodyPr/>
                    <a:lstStyle/>
                    <a:p>
                      <a:pPr algn="l"/>
                      <a:r>
                        <a:rPr sz="1200" b="0">
                          <a:solidFill>
                            <a:srgbClr val="444A52"/>
                          </a:solidFill>
                          <a:latin typeface="Calibri"/>
                        </a:rPr>
                        <a:t>ResNet-50</a:t>
                      </a:r>
                    </a:p>
                  </a:txBody>
                  <a:tcPr anchor="ctr" marL="82296" marR="82296">
                    <a:solidFill>
                      <a:srgbClr val="FFFFFF"/>
                    </a:solidFill>
                  </a:tcPr>
                </a:tc>
                <a:tc>
                  <a:txBody>
                    <a:bodyPr/>
                    <a:lstStyle/>
                    <a:p>
                      <a:pPr algn="ctr"/>
                      <a:r>
                        <a:rPr sz="1200" b="0">
                          <a:solidFill>
                            <a:srgbClr val="444A52"/>
                          </a:solidFill>
                          <a:latin typeface="Calibri"/>
                        </a:rPr>
                        <a:t>23.5 M</a:t>
                      </a:r>
                    </a:p>
                  </a:txBody>
                  <a:tcPr anchor="ctr" marL="82296" marR="82296">
                    <a:solidFill>
                      <a:srgbClr val="FFFFFF"/>
                    </a:solidFill>
                  </a:tcPr>
                </a:tc>
                <a:tc>
                  <a:txBody>
                    <a:bodyPr/>
                    <a:lstStyle/>
                    <a:p>
                      <a:pPr algn="ctr"/>
                      <a:r>
                        <a:rPr sz="1200" b="0">
                          <a:solidFill>
                            <a:srgbClr val="444A52"/>
                          </a:solidFill>
                          <a:latin typeface="Calibri"/>
                        </a:rPr>
                        <a:t>8.2</a:t>
                      </a:r>
                    </a:p>
                  </a:txBody>
                  <a:tcPr anchor="ctr" marL="82296" marR="82296">
                    <a:solidFill>
                      <a:srgbClr val="FFFFFF"/>
                    </a:solidFill>
                  </a:tcPr>
                </a:tc>
                <a:tc>
                  <a:txBody>
                    <a:bodyPr/>
                    <a:lstStyle/>
                    <a:p>
                      <a:pPr algn="ctr"/>
                      <a:r>
                        <a:rPr sz="1200" b="0">
                          <a:solidFill>
                            <a:srgbClr val="444A52"/>
                          </a:solidFill>
                          <a:latin typeface="Calibri"/>
                        </a:rPr>
                        <a:t>0.936</a:t>
                      </a:r>
                    </a:p>
                  </a:txBody>
                  <a:tcPr anchor="ctr" marL="82296" marR="82296">
                    <a:solidFill>
                      <a:srgbClr val="FFFFFF"/>
                    </a:solidFill>
                  </a:tcPr>
                </a:tc>
                <a:tc>
                  <a:txBody>
                    <a:bodyPr/>
                    <a:lstStyle/>
                    <a:p>
                      <a:pPr algn="ctr"/>
                      <a:r>
                        <a:rPr sz="1200" b="0">
                          <a:solidFill>
                            <a:srgbClr val="444A52"/>
                          </a:solidFill>
                          <a:latin typeface="Calibri"/>
                        </a:rPr>
                        <a:t>74.6 %</a:t>
                      </a:r>
                    </a:p>
                  </a:txBody>
                  <a:tcPr anchor="ctr" marL="82296" marR="82296">
                    <a:solidFill>
                      <a:srgbClr val="FFFFFF"/>
                    </a:solidFill>
                  </a:tcPr>
                </a:tc>
                <a:tc>
                  <a:txBody>
                    <a:bodyPr/>
                    <a:lstStyle/>
                    <a:p>
                      <a:pPr algn="ctr"/>
                      <a:r>
                        <a:rPr sz="1200" b="0">
                          <a:solidFill>
                            <a:srgbClr val="444A52"/>
                          </a:solidFill>
                          <a:latin typeface="Calibri"/>
                        </a:rPr>
                        <a:t>0.735</a:t>
                      </a:r>
                    </a:p>
                  </a:txBody>
                  <a:tcPr anchor="ctr" marL="82296" marR="82296">
                    <a:solidFill>
                      <a:srgbClr val="FFFFFF"/>
                    </a:solidFill>
                  </a:tcPr>
                </a:tc>
                <a:tc>
                  <a:txBody>
                    <a:bodyPr/>
                    <a:lstStyle/>
                    <a:p>
                      <a:pPr algn="ctr"/>
                      <a:r>
                        <a:rPr sz="1200" b="0">
                          <a:solidFill>
                            <a:srgbClr val="444A52"/>
                          </a:solidFill>
                          <a:latin typeface="Calibri"/>
                        </a:rPr>
                        <a:t>0.262</a:t>
                      </a:r>
                    </a:p>
                  </a:txBody>
                  <a:tcPr anchor="ctr" marL="82296" marR="82296">
                    <a:solidFill>
                      <a:srgbClr val="FFFFFF"/>
                    </a:solidFill>
                  </a:tcPr>
                </a:tc>
                <a:tc>
                  <a:txBody>
                    <a:bodyPr/>
                    <a:lstStyle/>
                    <a:p>
                      <a:pPr algn="ctr"/>
                      <a:r>
                        <a:rPr sz="1200" b="0">
                          <a:solidFill>
                            <a:srgbClr val="444A52"/>
                          </a:solidFill>
                          <a:latin typeface="Calibri"/>
                        </a:rPr>
                        <a:t>99.2 %</a:t>
                      </a:r>
                    </a:p>
                  </a:txBody>
                  <a:tcPr anchor="ctr" marL="82296" marR="82296">
                    <a:solidFill>
                      <a:srgbClr val="FFFFFF"/>
                    </a:solidFill>
                  </a:tcPr>
                </a:tc>
                <a:tc>
                  <a:txBody>
                    <a:bodyPr/>
                    <a:lstStyle/>
                    <a:p>
                      <a:pPr algn="ctr"/>
                      <a:r>
                        <a:rPr sz="1200" b="0">
                          <a:solidFill>
                            <a:srgbClr val="444A52"/>
                          </a:solidFill>
                          <a:latin typeface="Calibri"/>
                        </a:rPr>
                        <a:t>10</a:t>
                      </a:r>
                    </a:p>
                  </a:txBody>
                  <a:tcPr anchor="ctr" marL="82296" marR="82296">
                    <a:solidFill>
                      <a:srgbClr val="FFFFFF"/>
                    </a:solidFill>
                  </a:tcPr>
                </a:tc>
              </a:tr>
              <a:tr h="329184">
                <a:tc>
                  <a:txBody>
                    <a:bodyPr/>
                    <a:lstStyle/>
                    <a:p>
                      <a:pPr algn="l"/>
                      <a:r>
                        <a:rPr sz="1200" b="0">
                          <a:solidFill>
                            <a:srgbClr val="444A52"/>
                          </a:solidFill>
                          <a:latin typeface="Calibri"/>
                        </a:rPr>
                        <a:t>ViT-S/16</a:t>
                      </a:r>
                    </a:p>
                  </a:txBody>
                  <a:tcPr anchor="ctr" marL="82296" marR="82296">
                    <a:solidFill>
                      <a:srgbClr val="F6F7F4"/>
                    </a:solidFill>
                  </a:tcPr>
                </a:tc>
                <a:tc>
                  <a:txBody>
                    <a:bodyPr/>
                    <a:lstStyle/>
                    <a:p>
                      <a:pPr algn="ctr"/>
                      <a:r>
                        <a:rPr sz="1200" b="0">
                          <a:solidFill>
                            <a:srgbClr val="444A52"/>
                          </a:solidFill>
                          <a:latin typeface="Calibri"/>
                        </a:rPr>
                        <a:t>21.7 M</a:t>
                      </a:r>
                    </a:p>
                  </a:txBody>
                  <a:tcPr anchor="ctr" marL="82296" marR="82296">
                    <a:solidFill>
                      <a:srgbClr val="F6F7F4"/>
                    </a:solidFill>
                  </a:tcPr>
                </a:tc>
                <a:tc>
                  <a:txBody>
                    <a:bodyPr/>
                    <a:lstStyle/>
                    <a:p>
                      <a:pPr algn="ctr"/>
                      <a:r>
                        <a:rPr sz="1200" b="0">
                          <a:solidFill>
                            <a:srgbClr val="444A52"/>
                          </a:solidFill>
                          <a:latin typeface="Calibri"/>
                        </a:rPr>
                        <a:t>8.5</a:t>
                      </a:r>
                    </a:p>
                  </a:txBody>
                  <a:tcPr anchor="ctr" marL="82296" marR="82296">
                    <a:solidFill>
                      <a:srgbClr val="F6F7F4"/>
                    </a:solidFill>
                  </a:tcPr>
                </a:tc>
                <a:tc>
                  <a:txBody>
                    <a:bodyPr/>
                    <a:lstStyle/>
                    <a:p>
                      <a:pPr algn="ctr"/>
                      <a:r>
                        <a:rPr sz="1200" b="0">
                          <a:solidFill>
                            <a:srgbClr val="444A52"/>
                          </a:solidFill>
                          <a:latin typeface="Calibri"/>
                        </a:rPr>
                        <a:t>0.931</a:t>
                      </a:r>
                    </a:p>
                  </a:txBody>
                  <a:tcPr anchor="ctr" marL="82296" marR="82296">
                    <a:solidFill>
                      <a:srgbClr val="F6F7F4"/>
                    </a:solidFill>
                  </a:tcPr>
                </a:tc>
                <a:tc>
                  <a:txBody>
                    <a:bodyPr/>
                    <a:lstStyle/>
                    <a:p>
                      <a:pPr algn="ctr"/>
                      <a:r>
                        <a:rPr sz="1200" b="0">
                          <a:solidFill>
                            <a:srgbClr val="444A52"/>
                          </a:solidFill>
                          <a:latin typeface="Calibri"/>
                        </a:rPr>
                        <a:t>72.2 %</a:t>
                      </a:r>
                    </a:p>
                  </a:txBody>
                  <a:tcPr anchor="ctr" marL="82296" marR="82296">
                    <a:solidFill>
                      <a:srgbClr val="F6F7F4"/>
                    </a:solidFill>
                  </a:tcPr>
                </a:tc>
                <a:tc>
                  <a:txBody>
                    <a:bodyPr/>
                    <a:lstStyle/>
                    <a:p>
                      <a:pPr algn="ctr"/>
                      <a:r>
                        <a:rPr sz="1200" b="0">
                          <a:solidFill>
                            <a:srgbClr val="444A52"/>
                          </a:solidFill>
                          <a:latin typeface="Calibri"/>
                        </a:rPr>
                        <a:t>0.711</a:t>
                      </a:r>
                    </a:p>
                  </a:txBody>
                  <a:tcPr anchor="ctr" marL="82296" marR="82296">
                    <a:solidFill>
                      <a:srgbClr val="F6F7F4"/>
                    </a:solidFill>
                  </a:tcPr>
                </a:tc>
                <a:tc>
                  <a:txBody>
                    <a:bodyPr/>
                    <a:lstStyle/>
                    <a:p>
                      <a:pPr algn="ctr"/>
                      <a:r>
                        <a:rPr sz="1200" b="0">
                          <a:solidFill>
                            <a:srgbClr val="444A52"/>
                          </a:solidFill>
                          <a:latin typeface="Calibri"/>
                        </a:rPr>
                        <a:t>0.282</a:t>
                      </a:r>
                    </a:p>
                  </a:txBody>
                  <a:tcPr anchor="ctr" marL="82296" marR="82296">
                    <a:solidFill>
                      <a:srgbClr val="F6F7F4"/>
                    </a:solidFill>
                  </a:tcPr>
                </a:tc>
                <a:tc>
                  <a:txBody>
                    <a:bodyPr/>
                    <a:lstStyle/>
                    <a:p>
                      <a:pPr algn="ctr"/>
                      <a:r>
                        <a:rPr sz="1200" b="0">
                          <a:solidFill>
                            <a:srgbClr val="444A52"/>
                          </a:solidFill>
                          <a:latin typeface="Calibri"/>
                        </a:rPr>
                        <a:t>99.5 %</a:t>
                      </a:r>
                    </a:p>
                  </a:txBody>
                  <a:tcPr anchor="ctr" marL="82296" marR="82296">
                    <a:solidFill>
                      <a:srgbClr val="F6F7F4"/>
                    </a:solidFill>
                  </a:tcPr>
                </a:tc>
                <a:tc>
                  <a:txBody>
                    <a:bodyPr/>
                    <a:lstStyle/>
                    <a:p>
                      <a:pPr algn="ctr"/>
                      <a:r>
                        <a:rPr sz="1200" b="0">
                          <a:solidFill>
                            <a:srgbClr val="444A52"/>
                          </a:solidFill>
                          <a:latin typeface="Calibri"/>
                        </a:rPr>
                        <a:t>5</a:t>
                      </a:r>
                    </a:p>
                  </a:txBody>
                  <a:tcPr anchor="ctr" marL="82296" marR="82296">
                    <a:solidFill>
                      <a:srgbClr val="F6F7F4"/>
                    </a:solidFill>
                  </a:tcPr>
                </a:tc>
              </a:tr>
              <a:tr h="329184">
                <a:tc>
                  <a:txBody>
                    <a:bodyPr/>
                    <a:lstStyle/>
                    <a:p>
                      <a:pPr algn="l"/>
                      <a:r>
                        <a:rPr sz="1200" b="0">
                          <a:solidFill>
                            <a:srgbClr val="444A52"/>
                          </a:solidFill>
                          <a:latin typeface="Calibri"/>
                        </a:rPr>
                        <a:t>ResNet-50 (scratch)</a:t>
                      </a:r>
                    </a:p>
                  </a:txBody>
                  <a:tcPr anchor="ctr" marL="82296" marR="82296">
                    <a:solidFill>
                      <a:srgbClr val="FFFFFF"/>
                    </a:solidFill>
                  </a:tcPr>
                </a:tc>
                <a:tc>
                  <a:txBody>
                    <a:bodyPr/>
                    <a:lstStyle/>
                    <a:p>
                      <a:pPr algn="ctr"/>
                      <a:r>
                        <a:rPr sz="1200" b="0">
                          <a:solidFill>
                            <a:srgbClr val="444A52"/>
                          </a:solidFill>
                          <a:latin typeface="Calibri"/>
                        </a:rPr>
                        <a:t>23.5 M</a:t>
                      </a:r>
                    </a:p>
                  </a:txBody>
                  <a:tcPr anchor="ctr" marL="82296" marR="82296">
                    <a:solidFill>
                      <a:srgbClr val="FFFFFF"/>
                    </a:solidFill>
                  </a:tcPr>
                </a:tc>
                <a:tc>
                  <a:txBody>
                    <a:bodyPr/>
                    <a:lstStyle/>
                    <a:p>
                      <a:pPr algn="ctr"/>
                      <a:r>
                        <a:rPr sz="1200" b="0">
                          <a:solidFill>
                            <a:srgbClr val="444A52"/>
                          </a:solidFill>
                          <a:latin typeface="Calibri"/>
                        </a:rPr>
                        <a:t>8.2</a:t>
                      </a:r>
                    </a:p>
                  </a:txBody>
                  <a:tcPr anchor="ctr" marL="82296" marR="82296">
                    <a:solidFill>
                      <a:srgbClr val="FFFFFF"/>
                    </a:solidFill>
                  </a:tcPr>
                </a:tc>
                <a:tc>
                  <a:txBody>
                    <a:bodyPr/>
                    <a:lstStyle/>
                    <a:p>
                      <a:pPr algn="ctr"/>
                      <a:r>
                        <a:rPr sz="1200" b="0">
                          <a:solidFill>
                            <a:srgbClr val="444A52"/>
                          </a:solidFill>
                          <a:latin typeface="Calibri"/>
                        </a:rPr>
                        <a:t>0.915</a:t>
                      </a:r>
                    </a:p>
                  </a:txBody>
                  <a:tcPr anchor="ctr" marL="82296" marR="82296">
                    <a:solidFill>
                      <a:srgbClr val="FFFFFF"/>
                    </a:solidFill>
                  </a:tcPr>
                </a:tc>
                <a:tc>
                  <a:txBody>
                    <a:bodyPr/>
                    <a:lstStyle/>
                    <a:p>
                      <a:pPr algn="ctr"/>
                      <a:r>
                        <a:rPr sz="1200" b="0">
                          <a:solidFill>
                            <a:srgbClr val="444A52"/>
                          </a:solidFill>
                          <a:latin typeface="Calibri"/>
                        </a:rPr>
                        <a:t>67.2 %</a:t>
                      </a:r>
                    </a:p>
                  </a:txBody>
                  <a:tcPr anchor="ctr" marL="82296" marR="82296">
                    <a:solidFill>
                      <a:srgbClr val="FFFFFF"/>
                    </a:solidFill>
                  </a:tcPr>
                </a:tc>
                <a:tc>
                  <a:txBody>
                    <a:bodyPr/>
                    <a:lstStyle/>
                    <a:p>
                      <a:pPr algn="ctr"/>
                      <a:r>
                        <a:rPr sz="1200" b="0">
                          <a:solidFill>
                            <a:srgbClr val="444A52"/>
                          </a:solidFill>
                          <a:latin typeface="Calibri"/>
                        </a:rPr>
                        <a:t>0.655</a:t>
                      </a:r>
                    </a:p>
                  </a:txBody>
                  <a:tcPr anchor="ctr" marL="82296" marR="82296">
                    <a:solidFill>
                      <a:srgbClr val="FFFFFF"/>
                    </a:solidFill>
                  </a:tcPr>
                </a:tc>
                <a:tc>
                  <a:txBody>
                    <a:bodyPr/>
                    <a:lstStyle/>
                    <a:p>
                      <a:pPr algn="ctr"/>
                      <a:r>
                        <a:rPr sz="1200" b="0">
                          <a:solidFill>
                            <a:srgbClr val="444A52"/>
                          </a:solidFill>
                          <a:latin typeface="Calibri"/>
                        </a:rPr>
                        <a:t>0.352</a:t>
                      </a:r>
                    </a:p>
                  </a:txBody>
                  <a:tcPr anchor="ctr" marL="82296" marR="82296">
                    <a:solidFill>
                      <a:srgbClr val="FFFFFF"/>
                    </a:solidFill>
                  </a:tcPr>
                </a:tc>
                <a:tc>
                  <a:txBody>
                    <a:bodyPr/>
                    <a:lstStyle/>
                    <a:p>
                      <a:pPr algn="ctr"/>
                      <a:r>
                        <a:rPr sz="1200" b="0">
                          <a:solidFill>
                            <a:srgbClr val="444A52"/>
                          </a:solidFill>
                          <a:latin typeface="Calibri"/>
                        </a:rPr>
                        <a:t>97.7 %</a:t>
                      </a:r>
                    </a:p>
                  </a:txBody>
                  <a:tcPr anchor="ctr" marL="82296" marR="82296">
                    <a:solidFill>
                      <a:srgbClr val="FFFFFF"/>
                    </a:solidFill>
                  </a:tcPr>
                </a:tc>
                <a:tc>
                  <a:txBody>
                    <a:bodyPr/>
                    <a:lstStyle/>
                    <a:p>
                      <a:pPr algn="ctr"/>
                      <a:r>
                        <a:rPr sz="1200" b="0">
                          <a:solidFill>
                            <a:srgbClr val="444A52"/>
                          </a:solidFill>
                          <a:latin typeface="Calibri"/>
                        </a:rPr>
                        <a:t>18</a:t>
                      </a:r>
                    </a:p>
                  </a:txBody>
                  <a:tcPr anchor="ctr" marL="82296" marR="82296">
                    <a:solidFill>
                      <a:srgbClr val="FFFFFF"/>
                    </a:solidFill>
                  </a:tcPr>
                </a:tc>
              </a:tr>
              <a:tr h="329184">
                <a:tc>
                  <a:txBody>
                    <a:bodyPr/>
                    <a:lstStyle/>
                    <a:p>
                      <a:pPr algn="l"/>
                      <a:r>
                        <a:rPr sz="1200" b="0">
                          <a:solidFill>
                            <a:srgbClr val="444A52"/>
                          </a:solidFill>
                          <a:latin typeface="Calibri"/>
                        </a:rPr>
                        <a:t>ViT-S/16 (scratch)</a:t>
                      </a:r>
                    </a:p>
                  </a:txBody>
                  <a:tcPr anchor="ctr" marL="82296" marR="82296">
                    <a:solidFill>
                      <a:srgbClr val="F6F7F4"/>
                    </a:solidFill>
                  </a:tcPr>
                </a:tc>
                <a:tc>
                  <a:txBody>
                    <a:bodyPr/>
                    <a:lstStyle/>
                    <a:p>
                      <a:pPr algn="ctr"/>
                      <a:r>
                        <a:rPr sz="1200" b="0">
                          <a:solidFill>
                            <a:srgbClr val="444A52"/>
                          </a:solidFill>
                          <a:latin typeface="Calibri"/>
                        </a:rPr>
                        <a:t>21.7 M</a:t>
                      </a:r>
                    </a:p>
                  </a:txBody>
                  <a:tcPr anchor="ctr" marL="82296" marR="82296">
                    <a:solidFill>
                      <a:srgbClr val="F6F7F4"/>
                    </a:solidFill>
                  </a:tcPr>
                </a:tc>
                <a:tc>
                  <a:txBody>
                    <a:bodyPr/>
                    <a:lstStyle/>
                    <a:p>
                      <a:pPr algn="ctr"/>
                      <a:r>
                        <a:rPr sz="1200" b="0">
                          <a:solidFill>
                            <a:srgbClr val="444A52"/>
                          </a:solidFill>
                          <a:latin typeface="Calibri"/>
                        </a:rPr>
                        <a:t>8.5</a:t>
                      </a:r>
                    </a:p>
                  </a:txBody>
                  <a:tcPr anchor="ctr" marL="82296" marR="82296">
                    <a:solidFill>
                      <a:srgbClr val="F6F7F4"/>
                    </a:solidFill>
                  </a:tcPr>
                </a:tc>
                <a:tc>
                  <a:txBody>
                    <a:bodyPr/>
                    <a:lstStyle/>
                    <a:p>
                      <a:pPr algn="ctr"/>
                      <a:r>
                        <a:rPr sz="1200" b="0">
                          <a:solidFill>
                            <a:srgbClr val="444A52"/>
                          </a:solidFill>
                          <a:latin typeface="Calibri"/>
                        </a:rPr>
                        <a:t>0.889</a:t>
                      </a:r>
                    </a:p>
                  </a:txBody>
                  <a:tcPr anchor="ctr" marL="82296" marR="82296">
                    <a:solidFill>
                      <a:srgbClr val="F6F7F4"/>
                    </a:solidFill>
                  </a:tcPr>
                </a:tc>
                <a:tc>
                  <a:txBody>
                    <a:bodyPr/>
                    <a:lstStyle/>
                    <a:p>
                      <a:pPr algn="ctr"/>
                      <a:r>
                        <a:rPr sz="1200" b="0">
                          <a:solidFill>
                            <a:srgbClr val="444A52"/>
                          </a:solidFill>
                          <a:latin typeface="Calibri"/>
                        </a:rPr>
                        <a:t>61.2 %</a:t>
                      </a:r>
                    </a:p>
                  </a:txBody>
                  <a:tcPr anchor="ctr" marL="82296" marR="82296">
                    <a:solidFill>
                      <a:srgbClr val="F6F7F4"/>
                    </a:solidFill>
                  </a:tcPr>
                </a:tc>
                <a:tc>
                  <a:txBody>
                    <a:bodyPr/>
                    <a:lstStyle/>
                    <a:p>
                      <a:pPr algn="ctr"/>
                      <a:r>
                        <a:rPr sz="1200" b="0">
                          <a:solidFill>
                            <a:srgbClr val="444A52"/>
                          </a:solidFill>
                          <a:latin typeface="Calibri"/>
                        </a:rPr>
                        <a:t>0.579</a:t>
                      </a:r>
                    </a:p>
                  </a:txBody>
                  <a:tcPr anchor="ctr" marL="82296" marR="82296">
                    <a:solidFill>
                      <a:srgbClr val="F6F7F4"/>
                    </a:solidFill>
                  </a:tcPr>
                </a:tc>
                <a:tc>
                  <a:txBody>
                    <a:bodyPr/>
                    <a:lstStyle/>
                    <a:p>
                      <a:pPr algn="ctr"/>
                      <a:r>
                        <a:rPr sz="1200" b="0">
                          <a:solidFill>
                            <a:srgbClr val="444A52"/>
                          </a:solidFill>
                          <a:latin typeface="Calibri"/>
                        </a:rPr>
                        <a:t>0.409</a:t>
                      </a:r>
                    </a:p>
                  </a:txBody>
                  <a:tcPr anchor="ctr" marL="82296" marR="82296">
                    <a:solidFill>
                      <a:srgbClr val="F6F7F4"/>
                    </a:solidFill>
                  </a:tcPr>
                </a:tc>
                <a:tc>
                  <a:txBody>
                    <a:bodyPr/>
                    <a:lstStyle/>
                    <a:p>
                      <a:pPr algn="ctr"/>
                      <a:r>
                        <a:rPr sz="1200" b="0">
                          <a:solidFill>
                            <a:srgbClr val="444A52"/>
                          </a:solidFill>
                          <a:latin typeface="Calibri"/>
                        </a:rPr>
                        <a:t>98.1 %</a:t>
                      </a:r>
                    </a:p>
                  </a:txBody>
                  <a:tcPr anchor="ctr" marL="82296" marR="82296">
                    <a:solidFill>
                      <a:srgbClr val="F6F7F4"/>
                    </a:solidFill>
                  </a:tcPr>
                </a:tc>
                <a:tc>
                  <a:txBody>
                    <a:bodyPr/>
                    <a:lstStyle/>
                    <a:p>
                      <a:pPr algn="ctr"/>
                      <a:r>
                        <a:rPr sz="1200" b="0">
                          <a:solidFill>
                            <a:srgbClr val="444A52"/>
                          </a:solidFill>
                          <a:latin typeface="Calibri"/>
                        </a:rPr>
                        <a:t>6</a:t>
                      </a:r>
                    </a:p>
                  </a:txBody>
                  <a:tcPr anchor="ctr" marL="82296" marR="82296">
                    <a:solidFill>
                      <a:srgbClr val="F6F7F4"/>
                    </a:solidFill>
                  </a:tcPr>
                </a:tc>
              </a:tr>
              <a:tr h="329184">
                <a:tc>
                  <a:txBody>
                    <a:bodyPr/>
                    <a:lstStyle/>
                    <a:p>
                      <a:pPr algn="l"/>
                      <a:r>
                        <a:rPr sz="1200" b="0">
                          <a:solidFill>
                            <a:srgbClr val="444A52"/>
                          </a:solidFill>
                          <a:latin typeface="Calibri"/>
                        </a:rPr>
                        <a:t>Híbrido · fusión tardía</a:t>
                      </a:r>
                    </a:p>
                  </a:txBody>
                  <a:tcPr anchor="ctr" marL="82296" marR="82296">
                    <a:solidFill>
                      <a:srgbClr val="FFFFFF"/>
                    </a:solidFill>
                  </a:tcPr>
                </a:tc>
                <a:tc>
                  <a:txBody>
                    <a:bodyPr/>
                    <a:lstStyle/>
                    <a:p>
                      <a:pPr algn="ctr"/>
                      <a:r>
                        <a:rPr sz="1200" b="0">
                          <a:solidFill>
                            <a:srgbClr val="444A52"/>
                          </a:solidFill>
                          <a:latin typeface="Calibri"/>
                        </a:rPr>
                        <a:t>46.4 M</a:t>
                      </a:r>
                    </a:p>
                  </a:txBody>
                  <a:tcPr anchor="ctr" marL="82296" marR="82296">
                    <a:solidFill>
                      <a:srgbClr val="FFFFFF"/>
                    </a:solidFill>
                  </a:tcPr>
                </a:tc>
                <a:tc>
                  <a:txBody>
                    <a:bodyPr/>
                    <a:lstStyle/>
                    <a:p>
                      <a:pPr algn="ctr"/>
                      <a:r>
                        <a:rPr sz="1200" b="0">
                          <a:solidFill>
                            <a:srgbClr val="444A52"/>
                          </a:solidFill>
                          <a:latin typeface="Calibri"/>
                        </a:rPr>
                        <a:t>16.7</a:t>
                      </a:r>
                    </a:p>
                  </a:txBody>
                  <a:tcPr anchor="ctr" marL="82296" marR="82296">
                    <a:solidFill>
                      <a:srgbClr val="FFFFFF"/>
                    </a:solidFill>
                  </a:tcPr>
                </a:tc>
                <a:tc>
                  <a:txBody>
                    <a:bodyPr/>
                    <a:lstStyle/>
                    <a:p>
                      <a:pPr algn="ctr"/>
                      <a:r>
                        <a:rPr sz="1200" b="0">
                          <a:solidFill>
                            <a:srgbClr val="444A52"/>
                          </a:solidFill>
                          <a:latin typeface="Calibri"/>
                        </a:rPr>
                        <a:t>0.941</a:t>
                      </a:r>
                    </a:p>
                  </a:txBody>
                  <a:tcPr anchor="ctr" marL="82296" marR="82296">
                    <a:solidFill>
                      <a:srgbClr val="FFFFFF"/>
                    </a:solidFill>
                  </a:tcPr>
                </a:tc>
                <a:tc>
                  <a:txBody>
                    <a:bodyPr/>
                    <a:lstStyle/>
                    <a:p>
                      <a:pPr algn="ctr"/>
                      <a:r>
                        <a:rPr sz="1200" b="0">
                          <a:solidFill>
                            <a:srgbClr val="444A52"/>
                          </a:solidFill>
                          <a:latin typeface="Calibri"/>
                        </a:rPr>
                        <a:t>76.7 %</a:t>
                      </a:r>
                    </a:p>
                  </a:txBody>
                  <a:tcPr anchor="ctr" marL="82296" marR="82296">
                    <a:solidFill>
                      <a:srgbClr val="FFFFFF"/>
                    </a:solidFill>
                  </a:tcPr>
                </a:tc>
                <a:tc>
                  <a:txBody>
                    <a:bodyPr/>
                    <a:lstStyle/>
                    <a:p>
                      <a:pPr algn="ctr"/>
                      <a:r>
                        <a:rPr sz="1200" b="0">
                          <a:solidFill>
                            <a:srgbClr val="444A52"/>
                          </a:solidFill>
                          <a:latin typeface="Calibri"/>
                        </a:rPr>
                        <a:t>0.760</a:t>
                      </a:r>
                    </a:p>
                  </a:txBody>
                  <a:tcPr anchor="ctr" marL="82296" marR="82296">
                    <a:solidFill>
                      <a:srgbClr val="FFFFFF"/>
                    </a:solidFill>
                  </a:tcPr>
                </a:tc>
                <a:tc>
                  <a:txBody>
                    <a:bodyPr/>
                    <a:lstStyle/>
                    <a:p>
                      <a:pPr algn="ctr"/>
                      <a:r>
                        <a:rPr sz="1200" b="0">
                          <a:solidFill>
                            <a:srgbClr val="444A52"/>
                          </a:solidFill>
                          <a:latin typeface="Calibri"/>
                        </a:rPr>
                        <a:t>0.238</a:t>
                      </a:r>
                    </a:p>
                  </a:txBody>
                  <a:tcPr anchor="ctr" marL="82296" marR="82296">
                    <a:solidFill>
                      <a:srgbClr val="FFFFFF"/>
                    </a:solidFill>
                  </a:tcPr>
                </a:tc>
                <a:tc>
                  <a:txBody>
                    <a:bodyPr/>
                    <a:lstStyle/>
                    <a:p>
                      <a:pPr algn="ctr"/>
                      <a:r>
                        <a:rPr sz="1200" b="0">
                          <a:solidFill>
                            <a:srgbClr val="444A52"/>
                          </a:solidFill>
                          <a:latin typeface="Calibri"/>
                        </a:rPr>
                        <a:t>99.5 %</a:t>
                      </a:r>
                    </a:p>
                  </a:txBody>
                  <a:tcPr anchor="ctr" marL="82296" marR="82296">
                    <a:solidFill>
                      <a:srgbClr val="FFFFFF"/>
                    </a:solidFill>
                  </a:tcPr>
                </a:tc>
                <a:tc>
                  <a:txBody>
                    <a:bodyPr/>
                    <a:lstStyle/>
                    <a:p>
                      <a:pPr algn="ctr"/>
                      <a:r>
                        <a:rPr sz="1200" b="0">
                          <a:solidFill>
                            <a:srgbClr val="444A52"/>
                          </a:solidFill>
                          <a:latin typeface="Calibri"/>
                        </a:rPr>
                        <a:t>4</a:t>
                      </a:r>
                    </a:p>
                  </a:txBody>
                  <a:tcPr anchor="ctr" marL="82296" marR="82296">
                    <a:solidFill>
                      <a:srgbClr val="FFFFFF"/>
                    </a:solidFill>
                  </a:tcPr>
                </a:tc>
              </a:tr>
              <a:tr h="329184">
                <a:tc>
                  <a:txBody>
                    <a:bodyPr/>
                    <a:lstStyle/>
                    <a:p>
                      <a:pPr algn="l"/>
                      <a:r>
                        <a:rPr sz="1200" b="0">
                          <a:solidFill>
                            <a:srgbClr val="444A52"/>
                          </a:solidFill>
                          <a:latin typeface="Calibri"/>
                        </a:rPr>
                        <a:t>ViT-Hybrid R26+S/32</a:t>
                      </a:r>
                    </a:p>
                  </a:txBody>
                  <a:tcPr anchor="ctr" marL="82296" marR="82296">
                    <a:solidFill>
                      <a:srgbClr val="E8F1DC"/>
                    </a:solidFill>
                  </a:tcPr>
                </a:tc>
                <a:tc>
                  <a:txBody>
                    <a:bodyPr/>
                    <a:lstStyle/>
                    <a:p>
                      <a:pPr algn="ctr"/>
                      <a:r>
                        <a:rPr sz="1200" b="0">
                          <a:solidFill>
                            <a:srgbClr val="444A52"/>
                          </a:solidFill>
                          <a:latin typeface="Calibri"/>
                        </a:rPr>
                        <a:t>36.0 M</a:t>
                      </a:r>
                    </a:p>
                  </a:txBody>
                  <a:tcPr anchor="ctr" marL="82296" marR="82296">
                    <a:solidFill>
                      <a:srgbClr val="E8F1DC"/>
                    </a:solidFill>
                  </a:tcPr>
                </a:tc>
                <a:tc>
                  <a:txBody>
                    <a:bodyPr/>
                    <a:lstStyle/>
                    <a:p>
                      <a:pPr algn="ctr"/>
                      <a:r>
                        <a:rPr sz="1200" b="0">
                          <a:solidFill>
                            <a:srgbClr val="444A52"/>
                          </a:solidFill>
                          <a:latin typeface="Calibri"/>
                        </a:rPr>
                        <a:t>6.9</a:t>
                      </a:r>
                    </a:p>
                  </a:txBody>
                  <a:tcPr anchor="ctr" marL="82296" marR="82296">
                    <a:solidFill>
                      <a:srgbClr val="E8F1DC"/>
                    </a:solidFill>
                  </a:tcPr>
                </a:tc>
                <a:tc>
                  <a:txBody>
                    <a:bodyPr/>
                    <a:lstStyle/>
                    <a:p>
                      <a:pPr algn="ctr"/>
                      <a:r>
                        <a:rPr sz="1200" b="0">
                          <a:solidFill>
                            <a:srgbClr val="444A52"/>
                          </a:solidFill>
                          <a:latin typeface="Calibri"/>
                        </a:rPr>
                        <a:t>0.941</a:t>
                      </a:r>
                    </a:p>
                  </a:txBody>
                  <a:tcPr anchor="ctr" marL="82296" marR="82296">
                    <a:solidFill>
                      <a:srgbClr val="E8F1DC"/>
                    </a:solidFill>
                  </a:tcPr>
                </a:tc>
                <a:tc>
                  <a:txBody>
                    <a:bodyPr/>
                    <a:lstStyle/>
                    <a:p>
                      <a:pPr algn="ctr"/>
                      <a:r>
                        <a:rPr sz="1200" b="0">
                          <a:solidFill>
                            <a:srgbClr val="444A52"/>
                          </a:solidFill>
                          <a:latin typeface="Calibri"/>
                        </a:rPr>
                        <a:t>76.2 %</a:t>
                      </a:r>
                    </a:p>
                  </a:txBody>
                  <a:tcPr anchor="ctr" marL="82296" marR="82296">
                    <a:solidFill>
                      <a:srgbClr val="E8F1DC"/>
                    </a:solidFill>
                  </a:tcPr>
                </a:tc>
                <a:tc>
                  <a:txBody>
                    <a:bodyPr/>
                    <a:lstStyle/>
                    <a:p>
                      <a:pPr algn="ctr"/>
                      <a:r>
                        <a:rPr sz="1200" b="0">
                          <a:solidFill>
                            <a:srgbClr val="444A52"/>
                          </a:solidFill>
                          <a:latin typeface="Calibri"/>
                        </a:rPr>
                        <a:t>0.752</a:t>
                      </a:r>
                    </a:p>
                  </a:txBody>
                  <a:tcPr anchor="ctr" marL="82296" marR="82296">
                    <a:solidFill>
                      <a:srgbClr val="E8F1DC"/>
                    </a:solidFill>
                  </a:tcPr>
                </a:tc>
                <a:tc>
                  <a:txBody>
                    <a:bodyPr/>
                    <a:lstStyle/>
                    <a:p>
                      <a:pPr algn="ctr"/>
                      <a:r>
                        <a:rPr sz="1200" b="0">
                          <a:solidFill>
                            <a:srgbClr val="444A52"/>
                          </a:solidFill>
                          <a:latin typeface="Calibri"/>
                        </a:rPr>
                        <a:t>0.242</a:t>
                      </a:r>
                    </a:p>
                  </a:txBody>
                  <a:tcPr anchor="ctr" marL="82296" marR="82296">
                    <a:solidFill>
                      <a:srgbClr val="E8F1DC"/>
                    </a:solidFill>
                  </a:tcPr>
                </a:tc>
                <a:tc>
                  <a:txBody>
                    <a:bodyPr/>
                    <a:lstStyle/>
                    <a:p>
                      <a:pPr algn="ctr"/>
                      <a:r>
                        <a:rPr sz="1200" b="0">
                          <a:solidFill>
                            <a:srgbClr val="444A52"/>
                          </a:solidFill>
                          <a:latin typeface="Calibri"/>
                        </a:rPr>
                        <a:t>99.6 %</a:t>
                      </a:r>
                    </a:p>
                  </a:txBody>
                  <a:tcPr anchor="ctr" marL="82296" marR="82296">
                    <a:solidFill>
                      <a:srgbClr val="E8F1DC"/>
                    </a:solidFill>
                  </a:tcPr>
                </a:tc>
                <a:tc>
                  <a:txBody>
                    <a:bodyPr/>
                    <a:lstStyle/>
                    <a:p>
                      <a:pPr algn="ctr"/>
                      <a:r>
                        <a:rPr sz="1200" b="0">
                          <a:solidFill>
                            <a:srgbClr val="444A52"/>
                          </a:solidFill>
                          <a:latin typeface="Calibri"/>
                        </a:rPr>
                        <a:t>15</a:t>
                      </a:r>
                    </a:p>
                  </a:txBody>
                  <a:tcPr anchor="ctr" marL="82296" marR="82296">
                    <a:solidFill>
                      <a:srgbClr val="E8F1DC"/>
                    </a:solidFill>
                  </a:tcPr>
                </a:tc>
              </a:tr>
            </a:tbl>
          </a:graphicData>
        </a:graphic>
      </p:graphicFrame>
      <p:sp>
        <p:nvSpPr>
          <p:cNvPr id="6" name="Rectangle 5"/>
          <p:cNvSpPr/>
          <p:nvPr/>
        </p:nvSpPr>
        <p:spPr>
          <a:xfrm>
            <a:off x="640080" y="6144768"/>
            <a:ext cx="45720" cy="384048"/>
          </a:xfrm>
          <a:prstGeom prst="rect">
            <a:avLst/>
          </a:prstGeom>
          <a:solidFill>
            <a:srgbClr val="8FB3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6126480"/>
            <a:ext cx="10698480" cy="457200"/>
          </a:xfrm>
          <a:prstGeom prst="rect">
            <a:avLst/>
          </a:prstGeom>
          <a:noFill/>
        </p:spPr>
        <p:txBody>
          <a:bodyPr wrap="square" anchor="ctr">
            <a:spAutoFit/>
          </a:bodyPr>
          <a:lstStyle/>
          <a:p>
            <a:pPr algn="l"/>
            <a:r>
              <a:rPr sz="1300" b="0">
                <a:solidFill>
                  <a:srgbClr val="8A9098"/>
                </a:solidFill>
                <a:latin typeface="Calibri"/>
              </a:rPr>
              <a:t>Fila destacada: mejor QWK. El híbrido ViT-R26 usa pesos de ImageNet-21k y más parámetros: es cota superior de referencia, no competidor equiparable.</a:t>
            </a:r>
          </a:p>
        </p:txBody>
      </p:sp>
      <p:sp>
        <p:nvSpPr>
          <p:cNvPr id="8" name="TextBox 7"/>
          <p:cNvSpPr txBox="1"/>
          <p:nvPr/>
        </p:nvSpPr>
        <p:spPr>
          <a:xfrm>
            <a:off x="11140135" y="6355080"/>
            <a:ext cx="640080" cy="320040"/>
          </a:xfrm>
          <a:prstGeom prst="rect">
            <a:avLst/>
          </a:prstGeom>
          <a:noFill/>
        </p:spPr>
        <p:txBody>
          <a:bodyPr wrap="square" anchor="t">
            <a:spAutoFit/>
          </a:bodyPr>
          <a:lstStyle/>
          <a:p>
            <a:pPr algn="r"/>
            <a:r>
              <a:rPr sz="1100" b="0">
                <a:solidFill>
                  <a:srgbClr val="8A9098"/>
                </a:solidFill>
                <a:latin typeface="Calibri"/>
              </a:rPr>
              <a:t>6/13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972800" cy="685800"/>
          </a:xfrm>
          <a:prstGeom prst="rect">
            <a:avLst/>
          </a:prstGeom>
          <a:noFill/>
        </p:spPr>
        <p:txBody>
          <a:bodyPr wrap="square" anchor="t">
            <a:spAutoFit/>
          </a:bodyPr>
          <a:lstStyle/>
          <a:p>
            <a:pPr algn="l"/>
            <a:r>
              <a:rPr sz="3000" b="1">
                <a:solidFill>
                  <a:srgbClr val="2E6B2F"/>
                </a:solidFill>
                <a:latin typeface="Calibri"/>
              </a:rPr>
              <a:t>ResNet vs ViT: la comparación, no solo el número final</a:t>
            </a:r>
          </a:p>
        </p:txBody>
      </p:sp>
      <p:sp>
        <p:nvSpPr>
          <p:cNvPr id="3" name="TextBox 2"/>
          <p:cNvSpPr txBox="1"/>
          <p:nvPr/>
        </p:nvSpPr>
        <p:spPr>
          <a:xfrm>
            <a:off x="640080" y="1078992"/>
            <a:ext cx="10972800" cy="457200"/>
          </a:xfrm>
          <a:prstGeom prst="rect">
            <a:avLst/>
          </a:prstGeom>
          <a:noFill/>
        </p:spPr>
        <p:txBody>
          <a:bodyPr wrap="square" anchor="t">
            <a:spAutoFit/>
          </a:bodyPr>
          <a:lstStyle/>
          <a:p>
            <a:pPr algn="l"/>
            <a:r>
              <a:rPr sz="1500" b="0">
                <a:solidFill>
                  <a:srgbClr val="8A9098"/>
                </a:solidFill>
                <a:latin typeface="Calibri"/>
              </a:rPr>
              <a:t>Todas las diferencias contra ResNet-50, bootstrap pareado agrupado por fruta</a:t>
            </a:r>
          </a:p>
        </p:txBody>
      </p:sp>
      <p:sp>
        <p:nvSpPr>
          <p:cNvPr id="4" name="Rectangle 3"/>
          <p:cNvSpPr/>
          <p:nvPr/>
        </p:nvSpPr>
        <p:spPr>
          <a:xfrm>
            <a:off x="640080" y="1024128"/>
            <a:ext cx="1371600" cy="32004"/>
          </a:xfrm>
          <a:prstGeom prst="rect">
            <a:avLst/>
          </a:prstGeom>
          <a:solidFill>
            <a:srgbClr val="8FB3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10_matrices_confusion_final.png"/>
          <p:cNvPicPr>
            <a:picLocks noChangeAspect="1"/>
          </p:cNvPicPr>
          <p:nvPr/>
        </p:nvPicPr>
        <p:blipFill>
          <a:blip r:embed="rId2"/>
          <a:stretch>
            <a:fillRect/>
          </a:stretch>
        </p:blipFill>
        <p:spPr>
          <a:xfrm>
            <a:off x="640080" y="1627632"/>
            <a:ext cx="5760720" cy="4201745"/>
          </a:xfrm>
          <a:prstGeom prst="rect">
            <a:avLst/>
          </a:prstGeom>
        </p:spPr>
      </p:pic>
      <p:sp>
        <p:nvSpPr>
          <p:cNvPr id="6" name="TextBox 5"/>
          <p:cNvSpPr txBox="1"/>
          <p:nvPr/>
        </p:nvSpPr>
        <p:spPr>
          <a:xfrm>
            <a:off x="6675120" y="1627632"/>
            <a:ext cx="4937760" cy="4206240"/>
          </a:xfrm>
          <a:prstGeom prst="rect">
            <a:avLst/>
          </a:prstGeom>
          <a:noFill/>
        </p:spPr>
        <p:txBody>
          <a:bodyPr wrap="square">
            <a:spAutoFit/>
          </a:bodyPr>
          <a:lstStyle/>
          <a:p>
            <a:pPr>
              <a:spcAft>
                <a:spcPts val="900"/>
              </a:spcAft>
            </a:pPr>
            <a:r>
              <a:rPr sz="1150" b="1">
                <a:solidFill>
                  <a:srgbClr val="8FB339"/>
                </a:solidFill>
              </a:rPr>
              <a:t>▪  </a:t>
            </a:r>
            <a:r>
              <a:rPr sz="1150" b="1">
                <a:solidFill>
                  <a:srgbClr val="444A52"/>
                </a:solidFill>
              </a:rPr>
              <a:t>ViT-S/16:  Δ QWK = -0.0042  [-0.0095, +0.0006]  p = 0.095  → NO significativa</a:t>
            </a:r>
          </a:p>
          <a:p>
            <a:pPr>
              <a:spcAft>
                <a:spcPts val="900"/>
              </a:spcAft>
            </a:pPr>
            <a:r>
              <a:rPr sz="1150" b="1">
                <a:solidFill>
                  <a:srgbClr val="8FB339"/>
                </a:solidFill>
              </a:rPr>
              <a:t>▪  </a:t>
            </a:r>
            <a:r>
              <a:rPr sz="1150" b="1">
                <a:solidFill>
                  <a:srgbClr val="444A52"/>
                </a:solidFill>
              </a:rPr>
              <a:t>ResNet-50 (scratch):  Δ QWK = -0.0203  [-0.0283, -0.0123]  p = 0.000  → significativa</a:t>
            </a:r>
          </a:p>
          <a:p>
            <a:pPr>
              <a:spcAft>
                <a:spcPts val="900"/>
              </a:spcAft>
            </a:pPr>
            <a:r>
              <a:rPr sz="1150" b="1">
                <a:solidFill>
                  <a:srgbClr val="8FB339"/>
                </a:solidFill>
              </a:rPr>
              <a:t>▪  </a:t>
            </a:r>
            <a:r>
              <a:rPr sz="1150" b="1">
                <a:solidFill>
                  <a:srgbClr val="444A52"/>
                </a:solidFill>
              </a:rPr>
              <a:t>ViT-S/16 (scratch):  Δ QWK = -0.0465  [-0.0692, -0.0316]  p = 0.000  → significativa</a:t>
            </a:r>
          </a:p>
          <a:p>
            <a:pPr>
              <a:spcAft>
                <a:spcPts val="900"/>
              </a:spcAft>
            </a:pPr>
            <a:r>
              <a:rPr sz="1150" b="1">
                <a:solidFill>
                  <a:srgbClr val="8FB339"/>
                </a:solidFill>
              </a:rPr>
              <a:t>▪  </a:t>
            </a:r>
            <a:r>
              <a:rPr sz="1150" b="1">
                <a:solidFill>
                  <a:srgbClr val="444A52"/>
                </a:solidFill>
              </a:rPr>
              <a:t>Híbrido · fusión tardía:  Δ QWK = +0.0055  [+0.0021, +0.0087]  p = 0.001  → significativa</a:t>
            </a:r>
          </a:p>
          <a:p>
            <a:pPr>
              <a:spcAft>
                <a:spcPts val="900"/>
              </a:spcAft>
            </a:pPr>
            <a:r>
              <a:rPr sz="1150" b="1">
                <a:solidFill>
                  <a:srgbClr val="8FB339"/>
                </a:solidFill>
              </a:rPr>
              <a:t>▪  </a:t>
            </a:r>
            <a:r>
              <a:rPr sz="1150" b="1">
                <a:solidFill>
                  <a:srgbClr val="444A52"/>
                </a:solidFill>
              </a:rPr>
              <a:t>ViT-Hybrid R26+S/32:  Δ QWK = +0.0055  [+0.0005, +0.0104]  p = 0.031  → significativa</a:t>
            </a:r>
          </a:p>
          <a:p>
            <a:pPr>
              <a:spcAft>
                <a:spcPts val="900"/>
              </a:spcAft>
            </a:pPr>
            <a:r>
              <a:rPr sz="1150" b="1">
                <a:solidFill>
                  <a:srgbClr val="8FB339"/>
                </a:solidFill>
              </a:rPr>
              <a:t>▪  </a:t>
            </a:r>
            <a:r>
              <a:rPr sz="1150" b="0">
                <a:solidFill>
                  <a:srgbClr val="444A52"/>
                </a:solidFill>
              </a:rPr>
              <a:t>Todas las matrices son bandeadas: los errores de distancia ≥ 2 son casi inexistentes. Ningún modelo confunde una palta verde con una sobremadura.</a:t>
            </a:r>
          </a:p>
          <a:p>
            <a:pPr>
              <a:spcAft>
                <a:spcPts val="900"/>
              </a:spcAft>
            </a:pPr>
            <a:r>
              <a:rPr sz="1150" b="1">
                <a:solidFill>
                  <a:srgbClr val="8FB339"/>
                </a:solidFill>
              </a:rPr>
              <a:t>▪  </a:t>
            </a:r>
            <a:r>
              <a:rPr sz="1150" b="0">
                <a:solidFill>
                  <a:srgbClr val="444A52"/>
                </a:solidFill>
              </a:rPr>
              <a:t>El cuello de botella son las clases intermedias (2, 3 y 4), donde la frontera es un corte continuo y las etiquetas son más subjetivas.</a:t>
            </a:r>
          </a:p>
          <a:p>
            <a:pPr>
              <a:spcAft>
                <a:spcPts val="900"/>
              </a:spcAft>
            </a:pPr>
            <a:r>
              <a:rPr sz="1150" b="1">
                <a:solidFill>
                  <a:srgbClr val="8FB339"/>
                </a:solidFill>
              </a:rPr>
              <a:t>▪  </a:t>
            </a:r>
            <a:r>
              <a:rPr sz="1150" b="0">
                <a:solidFill>
                  <a:srgbClr val="444A52"/>
                </a:solidFill>
              </a:rPr>
              <a:t>Los dos modelos desde cero pierden la estructura: el ViT colapsa hacia las clases altas y predice 4 para el 68 % de las paltas que son clase 5.</a:t>
            </a:r>
          </a:p>
        </p:txBody>
      </p:sp>
      <p:sp>
        <p:nvSpPr>
          <p:cNvPr id="7" name="TextBox 6"/>
          <p:cNvSpPr txBox="1"/>
          <p:nvPr/>
        </p:nvSpPr>
        <p:spPr>
          <a:xfrm>
            <a:off x="11140135" y="6355080"/>
            <a:ext cx="640080" cy="320040"/>
          </a:xfrm>
          <a:prstGeom prst="rect">
            <a:avLst/>
          </a:prstGeom>
          <a:noFill/>
        </p:spPr>
        <p:txBody>
          <a:bodyPr wrap="square" anchor="t">
            <a:spAutoFit/>
          </a:bodyPr>
          <a:lstStyle/>
          <a:p>
            <a:pPr algn="r"/>
            <a:r>
              <a:rPr sz="1100" b="0">
                <a:solidFill>
                  <a:srgbClr val="8A9098"/>
                </a:solidFill>
                <a:latin typeface="Calibri"/>
              </a:rPr>
              <a:t>7/13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972800" cy="685800"/>
          </a:xfrm>
          <a:prstGeom prst="rect">
            <a:avLst/>
          </a:prstGeom>
          <a:noFill/>
        </p:spPr>
        <p:txBody>
          <a:bodyPr wrap="square" anchor="t">
            <a:spAutoFit/>
          </a:bodyPr>
          <a:lstStyle/>
          <a:p>
            <a:pPr algn="l"/>
            <a:r>
              <a:rPr sz="3000" b="1">
                <a:solidFill>
                  <a:srgbClr val="2E6B2F"/>
                </a:solidFill>
                <a:latin typeface="Calibri"/>
              </a:rPr>
              <a:t>Por qué difieren (o no) ResNet y ViT</a:t>
            </a:r>
          </a:p>
        </p:txBody>
      </p:sp>
      <p:sp>
        <p:nvSpPr>
          <p:cNvPr id="3" name="TextBox 2"/>
          <p:cNvSpPr txBox="1"/>
          <p:nvPr/>
        </p:nvSpPr>
        <p:spPr>
          <a:xfrm>
            <a:off x="640080" y="1078992"/>
            <a:ext cx="10972800" cy="457200"/>
          </a:xfrm>
          <a:prstGeom prst="rect">
            <a:avLst/>
          </a:prstGeom>
          <a:noFill/>
        </p:spPr>
        <p:txBody>
          <a:bodyPr wrap="square" anchor="t">
            <a:spAutoFit/>
          </a:bodyPr>
          <a:lstStyle/>
          <a:p>
            <a:pPr algn="l"/>
            <a:r>
              <a:rPr sz="1500" b="0">
                <a:solidFill>
                  <a:srgbClr val="8A9098"/>
                </a:solidFill>
                <a:latin typeface="Calibri"/>
              </a:rPr>
              <a:t>La ablación sin pre-entrenamiento es la evidencia</a:t>
            </a:r>
          </a:p>
        </p:txBody>
      </p:sp>
      <p:sp>
        <p:nvSpPr>
          <p:cNvPr id="4" name="Rectangle 3"/>
          <p:cNvSpPr/>
          <p:nvPr/>
        </p:nvSpPr>
        <p:spPr>
          <a:xfrm>
            <a:off x="640080" y="1024128"/>
            <a:ext cx="1371600" cy="32004"/>
          </a:xfrm>
          <a:prstGeom prst="rect">
            <a:avLst/>
          </a:prstGeom>
          <a:solidFill>
            <a:srgbClr val="8FB3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40080" y="1627632"/>
          <a:ext cx="10881358" cy="1700784"/>
        </p:xfrm>
        <a:graphic>
          <a:graphicData uri="http://schemas.openxmlformats.org/drawingml/2006/table">
            <a:tbl>
              <a:tblPr firstRow="1" bandRow="1">
                <a:tableStyleId>{5C22544A-7EE6-4342-B048-85BDC9FD1C3A}</a:tableStyleId>
              </a:tblPr>
              <a:tblGrid>
                <a:gridCol w="3557367"/>
                <a:gridCol w="2092569"/>
                <a:gridCol w="2092569"/>
                <a:gridCol w="3138853"/>
              </a:tblGrid>
              <a:tr h="384048">
                <a:tc>
                  <a:txBody>
                    <a:bodyPr/>
                    <a:lstStyle/>
                    <a:p>
                      <a:pPr algn="l"/>
                    </a:p>
                  </a:txBody>
                  <a:tcPr anchor="ctr" marL="82296" marR="82296">
                    <a:solidFill>
                      <a:srgbClr val="2E6B2F"/>
                    </a:solidFill>
                  </a:tcPr>
                </a:tc>
                <a:tc>
                  <a:txBody>
                    <a:bodyPr/>
                    <a:lstStyle/>
                    <a:p>
                      <a:pPr algn="ctr"/>
                      <a:r>
                        <a:rPr sz="1300" b="1">
                          <a:solidFill>
                            <a:srgbClr val="FFFFFF"/>
                          </a:solidFill>
                          <a:latin typeface="Calibri"/>
                        </a:rPr>
                        <a:t>ResNet-50</a:t>
                      </a:r>
                    </a:p>
                  </a:txBody>
                  <a:tcPr anchor="ctr" marL="82296" marR="82296">
                    <a:solidFill>
                      <a:srgbClr val="2E6B2F"/>
                    </a:solidFill>
                  </a:tcPr>
                </a:tc>
                <a:tc>
                  <a:txBody>
                    <a:bodyPr/>
                    <a:lstStyle/>
                    <a:p>
                      <a:pPr algn="ctr"/>
                      <a:r>
                        <a:rPr sz="1300" b="1">
                          <a:solidFill>
                            <a:srgbClr val="FFFFFF"/>
                          </a:solidFill>
                          <a:latin typeface="Calibri"/>
                        </a:rPr>
                        <a:t>ViT-S/16</a:t>
                      </a:r>
                    </a:p>
                  </a:txBody>
                  <a:tcPr anchor="ctr" marL="82296" marR="82296">
                    <a:solidFill>
                      <a:srgbClr val="2E6B2F"/>
                    </a:solidFill>
                  </a:tcPr>
                </a:tc>
                <a:tc>
                  <a:txBody>
                    <a:bodyPr/>
                    <a:lstStyle/>
                    <a:p>
                      <a:pPr algn="ctr"/>
                      <a:r>
                        <a:rPr sz="1300" b="1">
                          <a:solidFill>
                            <a:srgbClr val="FFFFFF"/>
                          </a:solidFill>
                          <a:latin typeface="Calibri"/>
                        </a:rPr>
                        <a:t>Lectura</a:t>
                      </a:r>
                    </a:p>
                  </a:txBody>
                  <a:tcPr anchor="ctr" marL="82296" marR="82296">
                    <a:solidFill>
                      <a:srgbClr val="2E6B2F"/>
                    </a:solidFill>
                  </a:tcPr>
                </a:tc>
              </a:tr>
              <a:tr h="329184">
                <a:tc>
                  <a:txBody>
                    <a:bodyPr/>
                    <a:lstStyle/>
                    <a:p>
                      <a:pPr algn="l"/>
                      <a:r>
                        <a:rPr sz="1300" b="0">
                          <a:solidFill>
                            <a:srgbClr val="444A52"/>
                          </a:solidFill>
                          <a:latin typeface="Calibri"/>
                        </a:rPr>
                        <a:t>QWK con ImageNet-1k</a:t>
                      </a:r>
                    </a:p>
                  </a:txBody>
                  <a:tcPr anchor="ctr" marL="82296" marR="82296">
                    <a:solidFill>
                      <a:srgbClr val="FFFFFF"/>
                    </a:solidFill>
                  </a:tcPr>
                </a:tc>
                <a:tc>
                  <a:txBody>
                    <a:bodyPr/>
                    <a:lstStyle/>
                    <a:p>
                      <a:pPr algn="ctr"/>
                      <a:r>
                        <a:rPr sz="1300" b="0">
                          <a:solidFill>
                            <a:srgbClr val="444A52"/>
                          </a:solidFill>
                          <a:latin typeface="Calibri"/>
                        </a:rPr>
                        <a:t>0.936</a:t>
                      </a:r>
                    </a:p>
                  </a:txBody>
                  <a:tcPr anchor="ctr" marL="82296" marR="82296">
                    <a:solidFill>
                      <a:srgbClr val="FFFFFF"/>
                    </a:solidFill>
                  </a:tcPr>
                </a:tc>
                <a:tc>
                  <a:txBody>
                    <a:bodyPr/>
                    <a:lstStyle/>
                    <a:p>
                      <a:pPr algn="ctr"/>
                      <a:r>
                        <a:rPr sz="1300" b="0">
                          <a:solidFill>
                            <a:srgbClr val="444A52"/>
                          </a:solidFill>
                          <a:latin typeface="Calibri"/>
                        </a:rPr>
                        <a:t>0.931</a:t>
                      </a:r>
                    </a:p>
                  </a:txBody>
                  <a:tcPr anchor="ctr" marL="82296" marR="82296">
                    <a:solidFill>
                      <a:srgbClr val="FFFFFF"/>
                    </a:solidFill>
                  </a:tcPr>
                </a:tc>
                <a:tc>
                  <a:txBody>
                    <a:bodyPr/>
                    <a:lstStyle/>
                    <a:p>
                      <a:pPr algn="ctr"/>
                    </a:p>
                  </a:txBody>
                  <a:tcPr anchor="ctr" marL="82296" marR="82296">
                    <a:solidFill>
                      <a:srgbClr val="FFFFFF"/>
                    </a:solidFill>
                  </a:tcPr>
                </a:tc>
              </a:tr>
              <a:tr h="329184">
                <a:tc>
                  <a:txBody>
                    <a:bodyPr/>
                    <a:lstStyle/>
                    <a:p>
                      <a:pPr algn="l"/>
                      <a:r>
                        <a:rPr sz="1300" b="0">
                          <a:solidFill>
                            <a:srgbClr val="444A52"/>
                          </a:solidFill>
                          <a:latin typeface="Calibri"/>
                        </a:rPr>
                        <a:t>QWK desde cero</a:t>
                      </a:r>
                    </a:p>
                  </a:txBody>
                  <a:tcPr anchor="ctr" marL="82296" marR="82296">
                    <a:solidFill>
                      <a:srgbClr val="F6F7F4"/>
                    </a:solidFill>
                  </a:tcPr>
                </a:tc>
                <a:tc>
                  <a:txBody>
                    <a:bodyPr/>
                    <a:lstStyle/>
                    <a:p>
                      <a:pPr algn="ctr"/>
                      <a:r>
                        <a:rPr sz="1300" b="0">
                          <a:solidFill>
                            <a:srgbClr val="444A52"/>
                          </a:solidFill>
                          <a:latin typeface="Calibri"/>
                        </a:rPr>
                        <a:t>0.915</a:t>
                      </a:r>
                    </a:p>
                  </a:txBody>
                  <a:tcPr anchor="ctr" marL="82296" marR="82296">
                    <a:solidFill>
                      <a:srgbClr val="F6F7F4"/>
                    </a:solidFill>
                  </a:tcPr>
                </a:tc>
                <a:tc>
                  <a:txBody>
                    <a:bodyPr/>
                    <a:lstStyle/>
                    <a:p>
                      <a:pPr algn="ctr"/>
                      <a:r>
                        <a:rPr sz="1300" b="0">
                          <a:solidFill>
                            <a:srgbClr val="444A52"/>
                          </a:solidFill>
                          <a:latin typeface="Calibri"/>
                        </a:rPr>
                        <a:t>0.889</a:t>
                      </a:r>
                    </a:p>
                  </a:txBody>
                  <a:tcPr anchor="ctr" marL="82296" marR="82296">
                    <a:solidFill>
                      <a:srgbClr val="F6F7F4"/>
                    </a:solidFill>
                  </a:tcPr>
                </a:tc>
                <a:tc>
                  <a:txBody>
                    <a:bodyPr/>
                    <a:lstStyle/>
                    <a:p>
                      <a:pPr algn="ctr"/>
                    </a:p>
                  </a:txBody>
                  <a:tcPr anchor="ctr" marL="82296" marR="82296">
                    <a:solidFill>
                      <a:srgbClr val="F6F7F4"/>
                    </a:solidFill>
                  </a:tcPr>
                </a:tc>
              </a:tr>
              <a:tr h="329184">
                <a:tc>
                  <a:txBody>
                    <a:bodyPr/>
                    <a:lstStyle/>
                    <a:p>
                      <a:pPr algn="l"/>
                      <a:r>
                        <a:rPr sz="1300" b="0">
                          <a:solidFill>
                            <a:srgbClr val="444A52"/>
                          </a:solidFill>
                          <a:latin typeface="Calibri"/>
                        </a:rPr>
                        <a:t>Δ sin pre-entrenamiento</a:t>
                      </a:r>
                    </a:p>
                  </a:txBody>
                  <a:tcPr anchor="ctr" marL="82296" marR="82296">
                    <a:solidFill>
                      <a:srgbClr val="FFFFFF"/>
                    </a:solidFill>
                  </a:tcPr>
                </a:tc>
                <a:tc>
                  <a:txBody>
                    <a:bodyPr/>
                    <a:lstStyle/>
                    <a:p>
                      <a:pPr algn="ctr"/>
                      <a:r>
                        <a:rPr sz="1300" b="0">
                          <a:solidFill>
                            <a:srgbClr val="444A52"/>
                          </a:solidFill>
                          <a:latin typeface="Calibri"/>
                        </a:rPr>
                        <a:t>-0.0203</a:t>
                      </a:r>
                    </a:p>
                  </a:txBody>
                  <a:tcPr anchor="ctr" marL="82296" marR="82296">
                    <a:solidFill>
                      <a:srgbClr val="FFFFFF"/>
                    </a:solidFill>
                  </a:tcPr>
                </a:tc>
                <a:tc>
                  <a:txBody>
                    <a:bodyPr/>
                    <a:lstStyle/>
                    <a:p>
                      <a:pPr algn="ctr"/>
                      <a:r>
                        <a:rPr sz="1300" b="0">
                          <a:solidFill>
                            <a:srgbClr val="444A52"/>
                          </a:solidFill>
                          <a:latin typeface="Calibri"/>
                        </a:rPr>
                        <a:t>-0.0422</a:t>
                      </a:r>
                    </a:p>
                  </a:txBody>
                  <a:tcPr anchor="ctr" marL="82296" marR="82296">
                    <a:solidFill>
                      <a:srgbClr val="FFFFFF"/>
                    </a:solidFill>
                  </a:tcPr>
                </a:tc>
                <a:tc>
                  <a:txBody>
                    <a:bodyPr/>
                    <a:lstStyle/>
                    <a:p>
                      <a:pPr algn="ctr"/>
                      <a:r>
                        <a:rPr sz="1300" b="0">
                          <a:solidFill>
                            <a:srgbClr val="444A52"/>
                          </a:solidFill>
                          <a:latin typeface="Calibri"/>
                        </a:rPr>
                        <a:t>el ViT pierde 2.1× más</a:t>
                      </a:r>
                    </a:p>
                  </a:txBody>
                  <a:tcPr anchor="ctr" marL="82296" marR="82296">
                    <a:solidFill>
                      <a:srgbClr val="FFFFFF"/>
                    </a:solidFill>
                  </a:tcPr>
                </a:tc>
              </a:tr>
              <a:tr h="329184">
                <a:tc>
                  <a:txBody>
                    <a:bodyPr/>
                    <a:lstStyle/>
                    <a:p>
                      <a:pPr algn="l"/>
                      <a:r>
                        <a:rPr sz="1300" b="0">
                          <a:solidFill>
                            <a:srgbClr val="444A52"/>
                          </a:solidFill>
                          <a:latin typeface="Calibri"/>
                        </a:rPr>
                        <a:t>Δ accuracy sin pre-entren.</a:t>
                      </a:r>
                    </a:p>
                  </a:txBody>
                  <a:tcPr anchor="ctr" marL="82296" marR="82296">
                    <a:solidFill>
                      <a:srgbClr val="F6F7F4"/>
                    </a:solidFill>
                  </a:tcPr>
                </a:tc>
                <a:tc>
                  <a:txBody>
                    <a:bodyPr/>
                    <a:lstStyle/>
                    <a:p>
                      <a:pPr algn="ctr"/>
                      <a:r>
                        <a:rPr sz="1300" b="0">
                          <a:solidFill>
                            <a:srgbClr val="444A52"/>
                          </a:solidFill>
                          <a:latin typeface="Calibri"/>
                        </a:rPr>
                        <a:t>-7.4 pts</a:t>
                      </a:r>
                    </a:p>
                  </a:txBody>
                  <a:tcPr anchor="ctr" marL="82296" marR="82296">
                    <a:solidFill>
                      <a:srgbClr val="F6F7F4"/>
                    </a:solidFill>
                  </a:tcPr>
                </a:tc>
                <a:tc>
                  <a:txBody>
                    <a:bodyPr/>
                    <a:lstStyle/>
                    <a:p>
                      <a:pPr algn="ctr"/>
                      <a:r>
                        <a:rPr sz="1300" b="0">
                          <a:solidFill>
                            <a:srgbClr val="444A52"/>
                          </a:solidFill>
                          <a:latin typeface="Calibri"/>
                        </a:rPr>
                        <a:t>-11.0 pts</a:t>
                      </a:r>
                    </a:p>
                  </a:txBody>
                  <a:tcPr anchor="ctr" marL="82296" marR="82296">
                    <a:solidFill>
                      <a:srgbClr val="F6F7F4"/>
                    </a:solidFill>
                  </a:tcPr>
                </a:tc>
                <a:tc>
                  <a:txBody>
                    <a:bodyPr/>
                    <a:lstStyle/>
                    <a:p>
                      <a:pPr algn="ctr"/>
                      <a:r>
                        <a:rPr sz="1300" b="0">
                          <a:solidFill>
                            <a:srgbClr val="444A52"/>
                          </a:solidFill>
                          <a:latin typeface="Calibri"/>
                        </a:rPr>
                        <a:t>el ViT pierde 1.5× más</a:t>
                      </a:r>
                    </a:p>
                  </a:txBody>
                  <a:tcPr anchor="ctr" marL="82296" marR="82296">
                    <a:solidFill>
                      <a:srgbClr val="F6F7F4"/>
                    </a:solidFill>
                  </a:tcPr>
                </a:tc>
              </a:tr>
            </a:tbl>
          </a:graphicData>
        </a:graphic>
      </p:graphicFrame>
      <p:sp>
        <p:nvSpPr>
          <p:cNvPr id="6" name="TextBox 5"/>
          <p:cNvSpPr txBox="1"/>
          <p:nvPr/>
        </p:nvSpPr>
        <p:spPr>
          <a:xfrm>
            <a:off x="640080" y="3913632"/>
            <a:ext cx="10881360" cy="4206240"/>
          </a:xfrm>
          <a:prstGeom prst="rect">
            <a:avLst/>
          </a:prstGeom>
          <a:noFill/>
        </p:spPr>
        <p:txBody>
          <a:bodyPr wrap="square">
            <a:spAutoFit/>
          </a:bodyPr>
          <a:lstStyle/>
          <a:p>
            <a:pPr>
              <a:spcAft>
                <a:spcPts val="1300"/>
              </a:spcAft>
            </a:pPr>
            <a:r>
              <a:rPr sz="1500" b="1">
                <a:solidFill>
                  <a:srgbClr val="8FB339"/>
                </a:solidFill>
              </a:rPr>
              <a:t>▪  </a:t>
            </a:r>
            <a:r>
              <a:rPr sz="1500" b="1">
                <a:solidFill>
                  <a:srgbClr val="444A52"/>
                </a:solidFill>
              </a:rPr>
              <a:t>La ResNet trae el sesgo inductivo incorporado en la arquitectura.</a:t>
            </a:r>
          </a:p>
          <a:p>
            <a:pPr>
              <a:spcAft>
                <a:spcPts val="1300"/>
              </a:spcAft>
            </a:pPr>
            <a:r>
              <a:rPr sz="1500" b="1">
                <a:solidFill>
                  <a:srgbClr val="8FB339"/>
                </a:solidFill>
              </a:rPr>
              <a:t>▪  </a:t>
            </a:r>
            <a:r>
              <a:rPr sz="1500" b="0">
                <a:solidFill>
                  <a:srgbClr val="444A52"/>
                </a:solidFill>
              </a:rPr>
              <a:t>La convolución asume localidad y equivarianza a la traslación: una mancha café significa lo mismo esté donde esté en la fruta. Eso no hay que aprenderlo.</a:t>
            </a:r>
          </a:p>
          <a:p>
            <a:pPr>
              <a:spcAft>
                <a:spcPts val="1300"/>
              </a:spcAft>
            </a:pPr>
            <a:r>
              <a:rPr sz="1500" b="1">
                <a:solidFill>
                  <a:srgbClr val="8FB339"/>
                </a:solidFill>
              </a:rPr>
              <a:t>▪  </a:t>
            </a:r>
            <a:r>
              <a:rPr sz="1500" b="1">
                <a:solidFill>
                  <a:srgbClr val="444A52"/>
                </a:solidFill>
              </a:rPr>
              <a:t>El ViT tiene que aprender ese sesgo de los datos.</a:t>
            </a:r>
          </a:p>
          <a:p>
            <a:pPr>
              <a:spcAft>
                <a:spcPts val="1300"/>
              </a:spcAft>
            </a:pPr>
            <a:r>
              <a:rPr sz="1500" b="1">
                <a:solidFill>
                  <a:srgbClr val="8FB339"/>
                </a:solidFill>
              </a:rPr>
              <a:t>▪  </a:t>
            </a:r>
            <a:r>
              <a:rPr sz="1500" b="0">
                <a:solidFill>
                  <a:srgbClr val="444A52"/>
                </a:solidFill>
              </a:rPr>
              <a:t>La auto-atención es global desde la primera capa y no asume nada sobre estructura espacial. Con 10.208 imágenes de 334 frutas no alcanza para descubrirlo desde cero; con ImageNet-1k detrás, sí.</a:t>
            </a:r>
          </a:p>
          <a:p>
            <a:pPr>
              <a:spcAft>
                <a:spcPts val="1300"/>
              </a:spcAft>
            </a:pPr>
            <a:r>
              <a:rPr sz="1500" b="1">
                <a:solidFill>
                  <a:srgbClr val="8FB339"/>
                </a:solidFill>
              </a:rPr>
              <a:t>▪  </a:t>
            </a:r>
            <a:r>
              <a:rPr sz="1500" b="1">
                <a:solidFill>
                  <a:srgbClr val="444A52"/>
                </a:solidFill>
              </a:rPr>
              <a:t>Es un problema de textura local, no de forma global.</a:t>
            </a:r>
          </a:p>
          <a:p>
            <a:pPr>
              <a:spcAft>
                <a:spcPts val="1300"/>
              </a:spcAft>
            </a:pPr>
            <a:r>
              <a:rPr sz="1500" b="1">
                <a:solidFill>
                  <a:srgbClr val="8FB339"/>
                </a:solidFill>
              </a:rPr>
              <a:t>▪  </a:t>
            </a:r>
            <a:r>
              <a:rPr sz="1500" b="0">
                <a:solidFill>
                  <a:srgbClr val="444A52"/>
                </a:solidFill>
              </a:rPr>
              <a:t>El índice de madurez se lee en el color y las manchas de la cáscara, justo donde la convolución es fuerte. El campo receptivo global del ViT aporta poco.</a:t>
            </a:r>
          </a:p>
        </p:txBody>
      </p:sp>
      <p:sp>
        <p:nvSpPr>
          <p:cNvPr id="7" name="TextBox 6"/>
          <p:cNvSpPr txBox="1"/>
          <p:nvPr/>
        </p:nvSpPr>
        <p:spPr>
          <a:xfrm>
            <a:off x="11140135" y="6355080"/>
            <a:ext cx="640080" cy="320040"/>
          </a:xfrm>
          <a:prstGeom prst="rect">
            <a:avLst/>
          </a:prstGeom>
          <a:noFill/>
        </p:spPr>
        <p:txBody>
          <a:bodyPr wrap="square" anchor="t">
            <a:spAutoFit/>
          </a:bodyPr>
          <a:lstStyle/>
          <a:p>
            <a:pPr algn="r"/>
            <a:r>
              <a:rPr sz="1100" b="0">
                <a:solidFill>
                  <a:srgbClr val="8A9098"/>
                </a:solidFill>
                <a:latin typeface="Calibri"/>
              </a:rPr>
              <a:t>8/13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972800" cy="685800"/>
          </a:xfrm>
          <a:prstGeom prst="rect">
            <a:avLst/>
          </a:prstGeom>
          <a:noFill/>
        </p:spPr>
        <p:txBody>
          <a:bodyPr wrap="square" anchor="t">
            <a:spAutoFit/>
          </a:bodyPr>
          <a:lstStyle/>
          <a:p>
            <a:pPr algn="l"/>
            <a:r>
              <a:rPr sz="3000" b="1">
                <a:solidFill>
                  <a:srgbClr val="2E6B2F"/>
                </a:solidFill>
                <a:latin typeface="Calibri"/>
              </a:rPr>
              <a:t>Los híbridos</a:t>
            </a:r>
          </a:p>
        </p:txBody>
      </p:sp>
      <p:sp>
        <p:nvSpPr>
          <p:cNvPr id="3" name="TextBox 2"/>
          <p:cNvSpPr txBox="1"/>
          <p:nvPr/>
        </p:nvSpPr>
        <p:spPr>
          <a:xfrm>
            <a:off x="640080" y="1078992"/>
            <a:ext cx="10972800" cy="457200"/>
          </a:xfrm>
          <a:prstGeom prst="rect">
            <a:avLst/>
          </a:prstGeom>
          <a:noFill/>
        </p:spPr>
        <p:txBody>
          <a:bodyPr wrap="square" anchor="t">
            <a:spAutoFit/>
          </a:bodyPr>
          <a:lstStyle/>
          <a:p>
            <a:pPr algn="l"/>
            <a:r>
              <a:rPr sz="1500" b="0">
                <a:solidFill>
                  <a:srgbClr val="8A9098"/>
                </a:solidFill>
                <a:latin typeface="Calibri"/>
              </a:rPr>
              <a:t>¿Suma combinar ambos enfoques?</a:t>
            </a:r>
          </a:p>
        </p:txBody>
      </p:sp>
      <p:sp>
        <p:nvSpPr>
          <p:cNvPr id="4" name="Rectangle 3"/>
          <p:cNvSpPr/>
          <p:nvPr/>
        </p:nvSpPr>
        <p:spPr>
          <a:xfrm>
            <a:off x="640080" y="1024128"/>
            <a:ext cx="1371600" cy="32004"/>
          </a:xfrm>
          <a:prstGeom prst="rect">
            <a:avLst/>
          </a:prstGeom>
          <a:solidFill>
            <a:srgbClr val="8FB3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627632"/>
            <a:ext cx="5303520" cy="1463040"/>
          </a:xfrm>
          <a:prstGeom prst="rect">
            <a:avLst/>
          </a:prstGeom>
          <a:solidFill>
            <a:srgbClr val="F6F7F4"/>
          </a:solidFill>
          <a:ln w="12700">
            <a:solidFill>
              <a:srgbClr val="DDE2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640080" y="1627632"/>
            <a:ext cx="50292" cy="1463040"/>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73936"/>
            <a:ext cx="4892040" cy="320040"/>
          </a:xfrm>
          <a:prstGeom prst="rect">
            <a:avLst/>
          </a:prstGeom>
          <a:noFill/>
        </p:spPr>
        <p:txBody>
          <a:bodyPr wrap="square" anchor="t">
            <a:spAutoFit/>
          </a:bodyPr>
          <a:lstStyle/>
          <a:p>
            <a:pPr algn="l"/>
            <a:r>
              <a:rPr sz="1200" b="1">
                <a:solidFill>
                  <a:srgbClr val="8A9098"/>
                </a:solidFill>
                <a:latin typeface="Calibri"/>
              </a:rPr>
              <a:t>HÍBRIDO · FUSIÓN TARDÍA</a:t>
            </a:r>
          </a:p>
        </p:txBody>
      </p:sp>
      <p:sp>
        <p:nvSpPr>
          <p:cNvPr id="8" name="TextBox 7"/>
          <p:cNvSpPr txBox="1"/>
          <p:nvPr/>
        </p:nvSpPr>
        <p:spPr>
          <a:xfrm>
            <a:off x="896112" y="2103120"/>
            <a:ext cx="4892040" cy="566928"/>
          </a:xfrm>
          <a:prstGeom prst="rect">
            <a:avLst/>
          </a:prstGeom>
          <a:noFill/>
        </p:spPr>
        <p:txBody>
          <a:bodyPr wrap="square" anchor="t">
            <a:spAutoFit/>
          </a:bodyPr>
          <a:lstStyle/>
          <a:p>
            <a:pPr algn="l"/>
            <a:r>
              <a:rPr sz="3000" b="1">
                <a:solidFill>
                  <a:srgbClr val="6A4C93"/>
                </a:solidFill>
                <a:latin typeface="Calibri"/>
              </a:rPr>
              <a:t>QWK 0.941</a:t>
            </a:r>
          </a:p>
        </p:txBody>
      </p:sp>
      <p:sp>
        <p:nvSpPr>
          <p:cNvPr id="9" name="TextBox 8"/>
          <p:cNvSpPr txBox="1"/>
          <p:nvPr/>
        </p:nvSpPr>
        <p:spPr>
          <a:xfrm>
            <a:off x="896112" y="2523744"/>
            <a:ext cx="4892040" cy="457200"/>
          </a:xfrm>
          <a:prstGeom prst="rect">
            <a:avLst/>
          </a:prstGeom>
          <a:noFill/>
        </p:spPr>
        <p:txBody>
          <a:bodyPr wrap="square" anchor="t">
            <a:spAutoFit/>
          </a:bodyPr>
          <a:lstStyle/>
          <a:p>
            <a:pPr algn="l"/>
            <a:r>
              <a:rPr sz="1100" b="0">
                <a:solidFill>
                  <a:srgbClr val="8A9098"/>
                </a:solidFill>
                <a:latin typeface="Calibri"/>
              </a:rPr>
              <a:t>46.4 M params · 16.7 GFLOPs · acc 76.7 %</a:t>
            </a:r>
          </a:p>
        </p:txBody>
      </p:sp>
      <p:sp>
        <p:nvSpPr>
          <p:cNvPr id="10" name="Rectangle 9"/>
          <p:cNvSpPr/>
          <p:nvPr/>
        </p:nvSpPr>
        <p:spPr>
          <a:xfrm>
            <a:off x="6217920" y="1627632"/>
            <a:ext cx="5303520" cy="1463040"/>
          </a:xfrm>
          <a:prstGeom prst="rect">
            <a:avLst/>
          </a:prstGeom>
          <a:solidFill>
            <a:srgbClr val="F6F7F4"/>
          </a:solidFill>
          <a:ln w="12700">
            <a:solidFill>
              <a:srgbClr val="DDE2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217920" y="1627632"/>
            <a:ext cx="50292" cy="1463040"/>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3952" y="1773936"/>
            <a:ext cx="4892040" cy="320040"/>
          </a:xfrm>
          <a:prstGeom prst="rect">
            <a:avLst/>
          </a:prstGeom>
          <a:noFill/>
        </p:spPr>
        <p:txBody>
          <a:bodyPr wrap="square" anchor="t">
            <a:spAutoFit/>
          </a:bodyPr>
          <a:lstStyle/>
          <a:p>
            <a:pPr algn="l"/>
            <a:r>
              <a:rPr sz="1200" b="1">
                <a:solidFill>
                  <a:srgbClr val="8A9098"/>
                </a:solidFill>
                <a:latin typeface="Calibri"/>
              </a:rPr>
              <a:t>VIT-HYBRID R26+S/32</a:t>
            </a:r>
          </a:p>
        </p:txBody>
      </p:sp>
      <p:sp>
        <p:nvSpPr>
          <p:cNvPr id="13" name="TextBox 12"/>
          <p:cNvSpPr txBox="1"/>
          <p:nvPr/>
        </p:nvSpPr>
        <p:spPr>
          <a:xfrm>
            <a:off x="6473952" y="2103120"/>
            <a:ext cx="4892040" cy="566928"/>
          </a:xfrm>
          <a:prstGeom prst="rect">
            <a:avLst/>
          </a:prstGeom>
          <a:noFill/>
        </p:spPr>
        <p:txBody>
          <a:bodyPr wrap="square" anchor="t">
            <a:spAutoFit/>
          </a:bodyPr>
          <a:lstStyle/>
          <a:p>
            <a:pPr algn="l"/>
            <a:r>
              <a:rPr sz="3000" b="1">
                <a:solidFill>
                  <a:srgbClr val="6A4C93"/>
                </a:solidFill>
                <a:latin typeface="Calibri"/>
              </a:rPr>
              <a:t>QWK 0.941</a:t>
            </a:r>
          </a:p>
        </p:txBody>
      </p:sp>
      <p:sp>
        <p:nvSpPr>
          <p:cNvPr id="14" name="TextBox 13"/>
          <p:cNvSpPr txBox="1"/>
          <p:nvPr/>
        </p:nvSpPr>
        <p:spPr>
          <a:xfrm>
            <a:off x="6473952" y="2523744"/>
            <a:ext cx="4892040" cy="457200"/>
          </a:xfrm>
          <a:prstGeom prst="rect">
            <a:avLst/>
          </a:prstGeom>
          <a:noFill/>
        </p:spPr>
        <p:txBody>
          <a:bodyPr wrap="square" anchor="t">
            <a:spAutoFit/>
          </a:bodyPr>
          <a:lstStyle/>
          <a:p>
            <a:pPr algn="l"/>
            <a:r>
              <a:rPr sz="1100" b="0">
                <a:solidFill>
                  <a:srgbClr val="8A9098"/>
                </a:solidFill>
                <a:latin typeface="Calibri"/>
              </a:rPr>
              <a:t>36.0 M params · 6.9 GFLOPs · acc 76.2 %</a:t>
            </a:r>
          </a:p>
        </p:txBody>
      </p:sp>
      <p:sp>
        <p:nvSpPr>
          <p:cNvPr id="15" name="TextBox 14"/>
          <p:cNvSpPr txBox="1"/>
          <p:nvPr/>
        </p:nvSpPr>
        <p:spPr>
          <a:xfrm>
            <a:off x="640080" y="3410712"/>
            <a:ext cx="5669280" cy="4206240"/>
          </a:xfrm>
          <a:prstGeom prst="rect">
            <a:avLst/>
          </a:prstGeom>
          <a:noFill/>
        </p:spPr>
        <p:txBody>
          <a:bodyPr wrap="square">
            <a:spAutoFit/>
          </a:bodyPr>
          <a:lstStyle/>
          <a:p>
            <a:pPr>
              <a:spcAft>
                <a:spcPts val="1300"/>
              </a:spcAft>
            </a:pPr>
            <a:r>
              <a:rPr sz="1250" b="1">
                <a:solidFill>
                  <a:srgbClr val="8FB339"/>
                </a:solidFill>
              </a:rPr>
              <a:t>▪  </a:t>
            </a:r>
            <a:r>
              <a:rPr sz="1250" b="0">
                <a:solidFill>
                  <a:srgbClr val="444A52"/>
                </a:solidFill>
              </a:rPr>
              <a:t>Techo de un oráculo que eligiera siempre el modelo correcto: 82.0 %. Ambos fallan a la vez en 18.0 % de las imágenes.</a:t>
            </a:r>
          </a:p>
          <a:p>
            <a:pPr>
              <a:spcAft>
                <a:spcPts val="1300"/>
              </a:spcAft>
            </a:pPr>
            <a:r>
              <a:rPr sz="1250" b="1">
                <a:solidFill>
                  <a:srgbClr val="8FB339"/>
                </a:solidFill>
              </a:rPr>
              <a:t>▪  </a:t>
            </a:r>
            <a:r>
              <a:rPr sz="1250" b="1">
                <a:solidFill>
                  <a:srgbClr val="444A52"/>
                </a:solidFill>
              </a:rPr>
              <a:t>La fusión tardía cuesta el doble de cómputo por imagen.</a:t>
            </a:r>
          </a:p>
          <a:p>
            <a:pPr>
              <a:spcAft>
                <a:spcPts val="1300"/>
              </a:spcAft>
            </a:pPr>
            <a:r>
              <a:rPr sz="1250" b="1">
                <a:solidFill>
                  <a:srgbClr val="8FB339"/>
                </a:solidFill>
              </a:rPr>
              <a:t>▪  </a:t>
            </a:r>
            <a:r>
              <a:rPr sz="1250" b="0">
                <a:solidFill>
                  <a:srgbClr val="444A52"/>
                </a:solidFill>
              </a:rPr>
              <a:t>Dos backbones completos en el forward. La pregunta no es si mejora, sino si mejora lo suficiente para justificar 2× de latencia.</a:t>
            </a:r>
          </a:p>
          <a:p>
            <a:pPr>
              <a:spcAft>
                <a:spcPts val="1300"/>
              </a:spcAft>
            </a:pPr>
            <a:r>
              <a:rPr sz="1250" b="1">
                <a:solidFill>
                  <a:srgbClr val="8FB339"/>
                </a:solidFill>
              </a:rPr>
              <a:t>▪  </a:t>
            </a:r>
            <a:r>
              <a:rPr sz="1250" b="0">
                <a:solidFill>
                  <a:srgbClr val="444A52"/>
                </a:solidFill>
              </a:rPr>
              <a:t>El ViT-Hybrid R26 no es equiparable: 36 M de parámetros y pesos de ImageNet-21k. Va como cota superior de referencia, no como competidor.</a:t>
            </a:r>
          </a:p>
        </p:txBody>
      </p:sp>
      <p:pic>
        <p:nvPicPr>
          <p:cNvPr id="16" name="Picture 15" descr="13_costo_beneficio_final.png"/>
          <p:cNvPicPr>
            <a:picLocks noChangeAspect="1"/>
          </p:cNvPicPr>
          <p:nvPr/>
        </p:nvPicPr>
        <p:blipFill>
          <a:blip r:embed="rId2"/>
          <a:stretch>
            <a:fillRect/>
          </a:stretch>
        </p:blipFill>
        <p:spPr>
          <a:xfrm>
            <a:off x="6492240" y="3547872"/>
            <a:ext cx="4625027" cy="2194560"/>
          </a:xfrm>
          <a:prstGeom prst="rect">
            <a:avLst/>
          </a:prstGeom>
        </p:spPr>
      </p:pic>
      <p:sp>
        <p:nvSpPr>
          <p:cNvPr id="17" name="TextBox 16"/>
          <p:cNvSpPr txBox="1"/>
          <p:nvPr/>
        </p:nvSpPr>
        <p:spPr>
          <a:xfrm>
            <a:off x="11140135" y="6355080"/>
            <a:ext cx="640080" cy="320040"/>
          </a:xfrm>
          <a:prstGeom prst="rect">
            <a:avLst/>
          </a:prstGeom>
          <a:noFill/>
        </p:spPr>
        <p:txBody>
          <a:bodyPr wrap="square" anchor="t">
            <a:spAutoFit/>
          </a:bodyPr>
          <a:lstStyle/>
          <a:p>
            <a:pPr algn="r"/>
            <a:r>
              <a:rPr sz="1100" b="0">
                <a:solidFill>
                  <a:srgbClr val="8A9098"/>
                </a:solidFill>
                <a:latin typeface="Calibri"/>
              </a:rPr>
              <a:t>9/13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972800" cy="685800"/>
          </a:xfrm>
          <a:prstGeom prst="rect">
            <a:avLst/>
          </a:prstGeom>
          <a:noFill/>
        </p:spPr>
        <p:txBody>
          <a:bodyPr wrap="square" anchor="t">
            <a:spAutoFit/>
          </a:bodyPr>
          <a:lstStyle/>
          <a:p>
            <a:pPr algn="l"/>
            <a:r>
              <a:rPr sz="3000" b="1">
                <a:solidFill>
                  <a:srgbClr val="2E6B2F"/>
                </a:solidFill>
                <a:latin typeface="Calibri"/>
              </a:rPr>
              <a:t>Dónde mira cada arquitectura</a:t>
            </a:r>
          </a:p>
        </p:txBody>
      </p:sp>
      <p:sp>
        <p:nvSpPr>
          <p:cNvPr id="3" name="TextBox 2"/>
          <p:cNvSpPr txBox="1"/>
          <p:nvPr/>
        </p:nvSpPr>
        <p:spPr>
          <a:xfrm>
            <a:off x="640080" y="1078992"/>
            <a:ext cx="10972800" cy="457200"/>
          </a:xfrm>
          <a:prstGeom prst="rect">
            <a:avLst/>
          </a:prstGeom>
          <a:noFill/>
        </p:spPr>
        <p:txBody>
          <a:bodyPr wrap="square" anchor="t">
            <a:spAutoFit/>
          </a:bodyPr>
          <a:lstStyle/>
          <a:p>
            <a:pPr algn="l"/>
            <a:r>
              <a:rPr sz="1500" b="0">
                <a:solidFill>
                  <a:srgbClr val="8A9098"/>
                </a:solidFill>
                <a:latin typeface="Calibri"/>
              </a:rPr>
              <a:t>Grad-CAM en la ResNet · attention rollout en el ViT</a:t>
            </a:r>
          </a:p>
        </p:txBody>
      </p:sp>
      <p:sp>
        <p:nvSpPr>
          <p:cNvPr id="4" name="Rectangle 3"/>
          <p:cNvSpPr/>
          <p:nvPr/>
        </p:nvSpPr>
        <p:spPr>
          <a:xfrm>
            <a:off x="640080" y="1024128"/>
            <a:ext cx="1371600" cy="32004"/>
          </a:xfrm>
          <a:prstGeom prst="rect">
            <a:avLst/>
          </a:prstGeom>
          <a:solidFill>
            <a:srgbClr val="8FB3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20_interpretabilidad_desacuerdo.png"/>
          <p:cNvPicPr>
            <a:picLocks noChangeAspect="1"/>
          </p:cNvPicPr>
          <p:nvPr/>
        </p:nvPicPr>
        <p:blipFill>
          <a:blip r:embed="rId2"/>
          <a:stretch>
            <a:fillRect/>
          </a:stretch>
        </p:blipFill>
        <p:spPr>
          <a:xfrm>
            <a:off x="640080" y="1307592"/>
            <a:ext cx="2822879" cy="4754880"/>
          </a:xfrm>
          <a:prstGeom prst="rect">
            <a:avLst/>
          </a:prstGeom>
        </p:spPr>
      </p:pic>
      <p:sp>
        <p:nvSpPr>
          <p:cNvPr id="6" name="TextBox 5"/>
          <p:cNvSpPr txBox="1"/>
          <p:nvPr/>
        </p:nvSpPr>
        <p:spPr>
          <a:xfrm>
            <a:off x="3931920" y="1627632"/>
            <a:ext cx="7589520" cy="4206240"/>
          </a:xfrm>
          <a:prstGeom prst="rect">
            <a:avLst/>
          </a:prstGeom>
          <a:noFill/>
        </p:spPr>
        <p:txBody>
          <a:bodyPr wrap="square">
            <a:spAutoFit/>
          </a:bodyPr>
          <a:lstStyle/>
          <a:p>
            <a:pPr>
              <a:spcAft>
                <a:spcPts val="1300"/>
              </a:spcAft>
            </a:pPr>
            <a:r>
              <a:rPr sz="1300" b="1">
                <a:solidFill>
                  <a:srgbClr val="8FB339"/>
                </a:solidFill>
              </a:rPr>
              <a:t>▪  </a:t>
            </a:r>
            <a:r>
              <a:rPr sz="1300" b="0">
                <a:solidFill>
                  <a:srgbClr val="444A52"/>
                </a:solidFill>
              </a:rPr>
              <a:t>No usamos la misma técnica en ambos a propósito: Grad-CAM necesita un mapa de activaciones con estructura espacial, y en un ViT ese mapa es una secuencia de tokens que produce resultados ruidosos.</a:t>
            </a:r>
          </a:p>
          <a:p>
            <a:pPr>
              <a:spcAft>
                <a:spcPts val="1300"/>
              </a:spcAft>
            </a:pPr>
            <a:r>
              <a:rPr sz="1300" b="1">
                <a:solidFill>
                  <a:srgbClr val="8FB339"/>
                </a:solidFill>
              </a:rPr>
              <a:t>▪  </a:t>
            </a:r>
            <a:r>
              <a:rPr sz="1300" b="0">
                <a:solidFill>
                  <a:srgbClr val="444A52"/>
                </a:solidFill>
              </a:rPr>
              <a:t>Attention rollout acumula las matrices de atención de todas las capas para estimar cuánto aporta cada parche al token CLS.</a:t>
            </a:r>
          </a:p>
          <a:p>
            <a:pPr>
              <a:spcAft>
                <a:spcPts val="1300"/>
              </a:spcAft>
            </a:pPr>
            <a:r>
              <a:rPr sz="1300" b="1">
                <a:solidFill>
                  <a:srgbClr val="8FB339"/>
                </a:solidFill>
              </a:rPr>
              <a:t>▪  </a:t>
            </a:r>
            <a:r>
              <a:rPr sz="1300" b="1">
                <a:solidFill>
                  <a:srgbClr val="444A52"/>
                </a:solidFill>
              </a:rPr>
              <a:t>La ResNet se activa sobre texturas locales: manchas, arrugas, zonas oscuras.</a:t>
            </a:r>
          </a:p>
          <a:p>
            <a:pPr>
              <a:spcAft>
                <a:spcPts val="1300"/>
              </a:spcAft>
            </a:pPr>
            <a:r>
              <a:rPr sz="1300" b="1">
                <a:solidFill>
                  <a:srgbClr val="8FB339"/>
                </a:solidFill>
              </a:rPr>
              <a:t>▪  </a:t>
            </a:r>
            <a:r>
              <a:rPr sz="1300" b="1">
                <a:solidFill>
                  <a:srgbClr val="444A52"/>
                </a:solidFill>
              </a:rPr>
              <a:t>El ViT reparte la atención sobre regiones más extensas de la cáscara.</a:t>
            </a:r>
          </a:p>
          <a:p>
            <a:pPr>
              <a:spcAft>
                <a:spcPts val="1300"/>
              </a:spcAft>
            </a:pPr>
            <a:r>
              <a:rPr sz="1300" b="1">
                <a:solidFill>
                  <a:srgbClr val="8FB339"/>
                </a:solidFill>
              </a:rPr>
              <a:t>▪  </a:t>
            </a:r>
            <a:r>
              <a:rPr sz="1300" b="0">
                <a:solidFill>
                  <a:srgbClr val="444A52"/>
                </a:solidFill>
              </a:rPr>
              <a:t>Ambas responden la misma pregunta por caminos distintos, y esa diferencia es coherente con el resultado cuantitativo.</a:t>
            </a:r>
          </a:p>
        </p:txBody>
      </p:sp>
      <p:sp>
        <p:nvSpPr>
          <p:cNvPr id="7" name="TextBox 6"/>
          <p:cNvSpPr txBox="1"/>
          <p:nvPr/>
        </p:nvSpPr>
        <p:spPr>
          <a:xfrm>
            <a:off x="11140135" y="6355080"/>
            <a:ext cx="640080" cy="320040"/>
          </a:xfrm>
          <a:prstGeom prst="rect">
            <a:avLst/>
          </a:prstGeom>
          <a:noFill/>
        </p:spPr>
        <p:txBody>
          <a:bodyPr wrap="square" anchor="t">
            <a:spAutoFit/>
          </a:bodyPr>
          <a:lstStyle/>
          <a:p>
            <a:pPr algn="r"/>
            <a:r>
              <a:rPr sz="1100" b="0">
                <a:solidFill>
                  <a:srgbClr val="8A9098"/>
                </a:solidFill>
                <a:latin typeface="Calibri"/>
              </a:rPr>
              <a:t>10/13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972800" cy="685800"/>
          </a:xfrm>
          <a:prstGeom prst="rect">
            <a:avLst/>
          </a:prstGeom>
          <a:noFill/>
        </p:spPr>
        <p:txBody>
          <a:bodyPr wrap="square" anchor="t">
            <a:spAutoFit/>
          </a:bodyPr>
          <a:lstStyle/>
          <a:p>
            <a:pPr algn="l"/>
            <a:r>
              <a:rPr sz="3000" b="1">
                <a:solidFill>
                  <a:srgbClr val="2E6B2F"/>
                </a:solidFill>
                <a:latin typeface="Calibri"/>
              </a:rPr>
              <a:t>Decisión: velocidad frente a precisión</a:t>
            </a:r>
          </a:p>
        </p:txBody>
      </p:sp>
      <p:sp>
        <p:nvSpPr>
          <p:cNvPr id="3" name="TextBox 2"/>
          <p:cNvSpPr txBox="1"/>
          <p:nvPr/>
        </p:nvSpPr>
        <p:spPr>
          <a:xfrm>
            <a:off x="640080" y="1078992"/>
            <a:ext cx="10972800" cy="457200"/>
          </a:xfrm>
          <a:prstGeom prst="rect">
            <a:avLst/>
          </a:prstGeom>
          <a:noFill/>
        </p:spPr>
        <p:txBody>
          <a:bodyPr wrap="square" anchor="t">
            <a:spAutoFit/>
          </a:bodyPr>
          <a:lstStyle/>
          <a:p>
            <a:pPr algn="l"/>
            <a:r>
              <a:rPr sz="1500" b="0">
                <a:solidFill>
                  <a:srgbClr val="8A9098"/>
                </a:solidFill>
                <a:latin typeface="Calibri"/>
              </a:rPr>
              <a:t>Qué modelo llevaríamos a una línea de empaque</a:t>
            </a:r>
          </a:p>
        </p:txBody>
      </p:sp>
      <p:sp>
        <p:nvSpPr>
          <p:cNvPr id="4" name="Rectangle 3"/>
          <p:cNvSpPr/>
          <p:nvPr/>
        </p:nvSpPr>
        <p:spPr>
          <a:xfrm>
            <a:off x="640080" y="1024128"/>
            <a:ext cx="1371600" cy="32004"/>
          </a:xfrm>
          <a:prstGeom prst="rect">
            <a:avLst/>
          </a:prstGeom>
          <a:solidFill>
            <a:srgbClr val="8FB3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40080" y="1627632"/>
          <a:ext cx="10881358" cy="1700784"/>
        </p:xfrm>
        <a:graphic>
          <a:graphicData uri="http://schemas.openxmlformats.org/drawingml/2006/table">
            <a:tbl>
              <a:tblPr firstRow="1" bandRow="1">
                <a:tableStyleId>{5C22544A-7EE6-4342-B048-85BDC9FD1C3A}</a:tableStyleId>
              </a:tblPr>
              <a:tblGrid>
                <a:gridCol w="2140595"/>
                <a:gridCol w="981106"/>
                <a:gridCol w="981106"/>
                <a:gridCol w="981106"/>
                <a:gridCol w="981106"/>
                <a:gridCol w="4816339"/>
              </a:tblGrid>
              <a:tr h="384048">
                <a:tc>
                  <a:txBody>
                    <a:bodyPr/>
                    <a:lstStyle/>
                    <a:p>
                      <a:pPr algn="l"/>
                      <a:r>
                        <a:rPr sz="1150" b="1">
                          <a:solidFill>
                            <a:srgbClr val="FFFFFF"/>
                          </a:solidFill>
                          <a:latin typeface="Calibri"/>
                        </a:rPr>
                        <a:t>Modelo</a:t>
                      </a:r>
                    </a:p>
                  </a:txBody>
                  <a:tcPr anchor="ctr" marL="82296" marR="82296">
                    <a:solidFill>
                      <a:srgbClr val="2E6B2F"/>
                    </a:solidFill>
                  </a:tcPr>
                </a:tc>
                <a:tc>
                  <a:txBody>
                    <a:bodyPr/>
                    <a:lstStyle/>
                    <a:p>
                      <a:pPr algn="ctr"/>
                      <a:r>
                        <a:rPr sz="1150" b="1">
                          <a:solidFill>
                            <a:srgbClr val="FFFFFF"/>
                          </a:solidFill>
                          <a:latin typeface="Calibri"/>
                        </a:rPr>
                        <a:t>QWK</a:t>
                      </a:r>
                    </a:p>
                  </a:txBody>
                  <a:tcPr anchor="ctr" marL="82296" marR="82296">
                    <a:solidFill>
                      <a:srgbClr val="2E6B2F"/>
                    </a:solidFill>
                  </a:tcPr>
                </a:tc>
                <a:tc>
                  <a:txBody>
                    <a:bodyPr/>
                    <a:lstStyle/>
                    <a:p>
                      <a:pPr algn="ctr"/>
                      <a:r>
                        <a:rPr sz="1150" b="1">
                          <a:solidFill>
                            <a:srgbClr val="FFFFFF"/>
                          </a:solidFill>
                          <a:latin typeface="Calibri"/>
                        </a:rPr>
                        <a:t>Δ QWK</a:t>
                      </a:r>
                    </a:p>
                  </a:txBody>
                  <a:tcPr anchor="ctr" marL="82296" marR="82296">
                    <a:solidFill>
                      <a:srgbClr val="2E6B2F"/>
                    </a:solidFill>
                  </a:tcPr>
                </a:tc>
                <a:tc>
                  <a:txBody>
                    <a:bodyPr/>
                    <a:lstStyle/>
                    <a:p>
                      <a:pPr algn="ctr"/>
                      <a:r>
                        <a:rPr sz="1150" b="1">
                          <a:solidFill>
                            <a:srgbClr val="FFFFFF"/>
                          </a:solidFill>
                          <a:latin typeface="Calibri"/>
                        </a:rPr>
                        <a:t>GFLOPs</a:t>
                      </a:r>
                    </a:p>
                  </a:txBody>
                  <a:tcPr anchor="ctr" marL="82296" marR="82296">
                    <a:solidFill>
                      <a:srgbClr val="2E6B2F"/>
                    </a:solidFill>
                  </a:tcPr>
                </a:tc>
                <a:tc>
                  <a:txBody>
                    <a:bodyPr/>
                    <a:lstStyle/>
                    <a:p>
                      <a:pPr algn="ctr"/>
                      <a:r>
                        <a:rPr sz="1150" b="1">
                          <a:solidFill>
                            <a:srgbClr val="FFFFFF"/>
                          </a:solidFill>
                          <a:latin typeface="Calibri"/>
                        </a:rPr>
                        <a:t>Costo rel.</a:t>
                      </a:r>
                    </a:p>
                  </a:txBody>
                  <a:tcPr anchor="ctr" marL="82296" marR="82296">
                    <a:solidFill>
                      <a:srgbClr val="2E6B2F"/>
                    </a:solidFill>
                  </a:tcPr>
                </a:tc>
                <a:tc>
                  <a:txBody>
                    <a:bodyPr/>
                    <a:lstStyle/>
                    <a:p>
                      <a:pPr algn="ctr"/>
                      <a:r>
                        <a:rPr sz="1150" b="1">
                          <a:solidFill>
                            <a:srgbClr val="FFFFFF"/>
                          </a:solidFill>
                          <a:latin typeface="Calibri"/>
                        </a:rPr>
                        <a:t>Veredicto</a:t>
                      </a:r>
                    </a:p>
                  </a:txBody>
                  <a:tcPr anchor="ctr" marL="82296" marR="82296">
                    <a:solidFill>
                      <a:srgbClr val="2E6B2F"/>
                    </a:solidFill>
                  </a:tcPr>
                </a:tc>
              </a:tr>
              <a:tr h="329184">
                <a:tc>
                  <a:txBody>
                    <a:bodyPr/>
                    <a:lstStyle/>
                    <a:p>
                      <a:pPr algn="l"/>
                      <a:r>
                        <a:rPr sz="1150" b="0">
                          <a:solidFill>
                            <a:srgbClr val="444A52"/>
                          </a:solidFill>
                          <a:latin typeface="Calibri"/>
                        </a:rPr>
                        <a:t>ResNet-50</a:t>
                      </a:r>
                    </a:p>
                  </a:txBody>
                  <a:tcPr anchor="ctr" marL="82296" marR="82296">
                    <a:solidFill>
                      <a:srgbClr val="E8F1DC"/>
                    </a:solidFill>
                  </a:tcPr>
                </a:tc>
                <a:tc>
                  <a:txBody>
                    <a:bodyPr/>
                    <a:lstStyle/>
                    <a:p>
                      <a:pPr algn="ctr"/>
                      <a:r>
                        <a:rPr sz="1150" b="0">
                          <a:solidFill>
                            <a:srgbClr val="444A52"/>
                          </a:solidFill>
                          <a:latin typeface="Calibri"/>
                        </a:rPr>
                        <a:t>0.9356</a:t>
                      </a:r>
                    </a:p>
                  </a:txBody>
                  <a:tcPr anchor="ctr" marL="82296" marR="82296">
                    <a:solidFill>
                      <a:srgbClr val="E8F1DC"/>
                    </a:solidFill>
                  </a:tcPr>
                </a:tc>
                <a:tc>
                  <a:txBody>
                    <a:bodyPr/>
                    <a:lstStyle/>
                    <a:p>
                      <a:pPr algn="ctr"/>
                      <a:r>
                        <a:rPr sz="1150" b="0">
                          <a:solidFill>
                            <a:srgbClr val="444A52"/>
                          </a:solidFill>
                          <a:latin typeface="Calibri"/>
                        </a:rPr>
                        <a:t>—</a:t>
                      </a:r>
                    </a:p>
                  </a:txBody>
                  <a:tcPr anchor="ctr" marL="82296" marR="82296">
                    <a:solidFill>
                      <a:srgbClr val="E8F1DC"/>
                    </a:solidFill>
                  </a:tcPr>
                </a:tc>
                <a:tc>
                  <a:txBody>
                    <a:bodyPr/>
                    <a:lstStyle/>
                    <a:p>
                      <a:pPr algn="ctr"/>
                      <a:r>
                        <a:rPr sz="1150" b="0">
                          <a:solidFill>
                            <a:srgbClr val="444A52"/>
                          </a:solidFill>
                          <a:latin typeface="Calibri"/>
                        </a:rPr>
                        <a:t>8.17</a:t>
                      </a:r>
                    </a:p>
                  </a:txBody>
                  <a:tcPr anchor="ctr" marL="82296" marR="82296">
                    <a:solidFill>
                      <a:srgbClr val="E8F1DC"/>
                    </a:solidFill>
                  </a:tcPr>
                </a:tc>
                <a:tc>
                  <a:txBody>
                    <a:bodyPr/>
                    <a:lstStyle/>
                    <a:p>
                      <a:pPr algn="ctr"/>
                      <a:r>
                        <a:rPr sz="1150" b="0">
                          <a:solidFill>
                            <a:srgbClr val="444A52"/>
                          </a:solidFill>
                          <a:latin typeface="Calibri"/>
                        </a:rPr>
                        <a:t>1.00×</a:t>
                      </a:r>
                    </a:p>
                  </a:txBody>
                  <a:tcPr anchor="ctr" marL="82296" marR="82296">
                    <a:solidFill>
                      <a:srgbClr val="E8F1DC"/>
                    </a:solidFill>
                  </a:tcPr>
                </a:tc>
                <a:tc>
                  <a:txBody>
                    <a:bodyPr/>
                    <a:lstStyle/>
                    <a:p>
                      <a:pPr algn="ctr"/>
                      <a:r>
                        <a:rPr sz="1150" b="0">
                          <a:solidFill>
                            <a:srgbClr val="444A52"/>
                          </a:solidFill>
                          <a:latin typeface="Calibri"/>
                        </a:rPr>
                        <a:t>Referencia. La recomendación operativa.</a:t>
                      </a:r>
                    </a:p>
                  </a:txBody>
                  <a:tcPr anchor="ctr" marL="82296" marR="82296">
                    <a:solidFill>
                      <a:srgbClr val="E8F1DC"/>
                    </a:solidFill>
                  </a:tcPr>
                </a:tc>
              </a:tr>
              <a:tr h="329184">
                <a:tc>
                  <a:txBody>
                    <a:bodyPr/>
                    <a:lstStyle/>
                    <a:p>
                      <a:pPr algn="l"/>
                      <a:r>
                        <a:rPr sz="1150" b="0">
                          <a:solidFill>
                            <a:srgbClr val="444A52"/>
                          </a:solidFill>
                          <a:latin typeface="Calibri"/>
                        </a:rPr>
                        <a:t>ViT-S/16</a:t>
                      </a:r>
                    </a:p>
                  </a:txBody>
                  <a:tcPr anchor="ctr" marL="82296" marR="82296">
                    <a:solidFill>
                      <a:srgbClr val="F6F7F4"/>
                    </a:solidFill>
                  </a:tcPr>
                </a:tc>
                <a:tc>
                  <a:txBody>
                    <a:bodyPr/>
                    <a:lstStyle/>
                    <a:p>
                      <a:pPr algn="ctr"/>
                      <a:r>
                        <a:rPr sz="1150" b="0">
                          <a:solidFill>
                            <a:srgbClr val="444A52"/>
                          </a:solidFill>
                          <a:latin typeface="Calibri"/>
                        </a:rPr>
                        <a:t>0.9313</a:t>
                      </a:r>
                    </a:p>
                  </a:txBody>
                  <a:tcPr anchor="ctr" marL="82296" marR="82296">
                    <a:solidFill>
                      <a:srgbClr val="F6F7F4"/>
                    </a:solidFill>
                  </a:tcPr>
                </a:tc>
                <a:tc>
                  <a:txBody>
                    <a:bodyPr/>
                    <a:lstStyle/>
                    <a:p>
                      <a:pPr algn="ctr"/>
                      <a:r>
                        <a:rPr sz="1150" b="0">
                          <a:solidFill>
                            <a:srgbClr val="444A52"/>
                          </a:solidFill>
                          <a:latin typeface="Calibri"/>
                        </a:rPr>
                        <a:t>-0.0042</a:t>
                      </a:r>
                    </a:p>
                  </a:txBody>
                  <a:tcPr anchor="ctr" marL="82296" marR="82296">
                    <a:solidFill>
                      <a:srgbClr val="F6F7F4"/>
                    </a:solidFill>
                  </a:tcPr>
                </a:tc>
                <a:tc>
                  <a:txBody>
                    <a:bodyPr/>
                    <a:lstStyle/>
                    <a:p>
                      <a:pPr algn="ctr"/>
                      <a:r>
                        <a:rPr sz="1150" b="0">
                          <a:solidFill>
                            <a:srgbClr val="444A52"/>
                          </a:solidFill>
                          <a:latin typeface="Calibri"/>
                        </a:rPr>
                        <a:t>8.48</a:t>
                      </a:r>
                    </a:p>
                  </a:txBody>
                  <a:tcPr anchor="ctr" marL="82296" marR="82296">
                    <a:solidFill>
                      <a:srgbClr val="F6F7F4"/>
                    </a:solidFill>
                  </a:tcPr>
                </a:tc>
                <a:tc>
                  <a:txBody>
                    <a:bodyPr/>
                    <a:lstStyle/>
                    <a:p>
                      <a:pPr algn="ctr"/>
                      <a:r>
                        <a:rPr sz="1150" b="0">
                          <a:solidFill>
                            <a:srgbClr val="444A52"/>
                          </a:solidFill>
                          <a:latin typeface="Calibri"/>
                        </a:rPr>
                        <a:t>1.04×</a:t>
                      </a:r>
                    </a:p>
                  </a:txBody>
                  <a:tcPr anchor="ctr" marL="82296" marR="82296">
                    <a:solidFill>
                      <a:srgbClr val="F6F7F4"/>
                    </a:solidFill>
                  </a:tcPr>
                </a:tc>
                <a:tc>
                  <a:txBody>
                    <a:bodyPr/>
                    <a:lstStyle/>
                    <a:p>
                      <a:pPr algn="ctr"/>
                      <a:r>
                        <a:rPr sz="1150" b="0">
                          <a:solidFill>
                            <a:srgbClr val="444A52"/>
                          </a:solidFill>
                          <a:latin typeface="Calibri"/>
                        </a:rPr>
                        <a:t>Empata en QWK al mismo costo y converge 2× más rápido.</a:t>
                      </a:r>
                    </a:p>
                  </a:txBody>
                  <a:tcPr anchor="ctr" marL="82296" marR="82296">
                    <a:solidFill>
                      <a:srgbClr val="F6F7F4"/>
                    </a:solidFill>
                  </a:tcPr>
                </a:tc>
              </a:tr>
              <a:tr h="329184">
                <a:tc>
                  <a:txBody>
                    <a:bodyPr/>
                    <a:lstStyle/>
                    <a:p>
                      <a:pPr algn="l"/>
                      <a:r>
                        <a:rPr sz="1150" b="0">
                          <a:solidFill>
                            <a:srgbClr val="444A52"/>
                          </a:solidFill>
                          <a:latin typeface="Calibri"/>
                        </a:rPr>
                        <a:t>Híbrido · fusión tardía</a:t>
                      </a:r>
                    </a:p>
                  </a:txBody>
                  <a:tcPr anchor="ctr" marL="82296" marR="82296">
                    <a:solidFill>
                      <a:srgbClr val="FFFFFF"/>
                    </a:solidFill>
                  </a:tcPr>
                </a:tc>
                <a:tc>
                  <a:txBody>
                    <a:bodyPr/>
                    <a:lstStyle/>
                    <a:p>
                      <a:pPr algn="ctr"/>
                      <a:r>
                        <a:rPr sz="1150" b="0">
                          <a:solidFill>
                            <a:srgbClr val="444A52"/>
                          </a:solidFill>
                          <a:latin typeface="Calibri"/>
                        </a:rPr>
                        <a:t>0.9410</a:t>
                      </a:r>
                    </a:p>
                  </a:txBody>
                  <a:tcPr anchor="ctr" marL="82296" marR="82296">
                    <a:solidFill>
                      <a:srgbClr val="FFFFFF"/>
                    </a:solidFill>
                  </a:tcPr>
                </a:tc>
                <a:tc>
                  <a:txBody>
                    <a:bodyPr/>
                    <a:lstStyle/>
                    <a:p>
                      <a:pPr algn="ctr"/>
                      <a:r>
                        <a:rPr sz="1150" b="0">
                          <a:solidFill>
                            <a:srgbClr val="444A52"/>
                          </a:solidFill>
                          <a:latin typeface="Calibri"/>
                        </a:rPr>
                        <a:t>+0.0055</a:t>
                      </a:r>
                    </a:p>
                  </a:txBody>
                  <a:tcPr anchor="ctr" marL="82296" marR="82296">
                    <a:solidFill>
                      <a:srgbClr val="FFFFFF"/>
                    </a:solidFill>
                  </a:tcPr>
                </a:tc>
                <a:tc>
                  <a:txBody>
                    <a:bodyPr/>
                    <a:lstStyle/>
                    <a:p>
                      <a:pPr algn="ctr"/>
                      <a:r>
                        <a:rPr sz="1150" b="0">
                          <a:solidFill>
                            <a:srgbClr val="444A52"/>
                          </a:solidFill>
                          <a:latin typeface="Calibri"/>
                        </a:rPr>
                        <a:t>16.66</a:t>
                      </a:r>
                    </a:p>
                  </a:txBody>
                  <a:tcPr anchor="ctr" marL="82296" marR="82296">
                    <a:solidFill>
                      <a:srgbClr val="FFFFFF"/>
                    </a:solidFill>
                  </a:tcPr>
                </a:tc>
                <a:tc>
                  <a:txBody>
                    <a:bodyPr/>
                    <a:lstStyle/>
                    <a:p>
                      <a:pPr algn="ctr"/>
                      <a:r>
                        <a:rPr sz="1150" b="0">
                          <a:solidFill>
                            <a:srgbClr val="444A52"/>
                          </a:solidFill>
                          <a:latin typeface="Calibri"/>
                        </a:rPr>
                        <a:t>2.04×</a:t>
                      </a:r>
                    </a:p>
                  </a:txBody>
                  <a:tcPr anchor="ctr" marL="82296" marR="82296">
                    <a:solidFill>
                      <a:srgbClr val="FFFFFF"/>
                    </a:solidFill>
                  </a:tcPr>
                </a:tc>
                <a:tc>
                  <a:txBody>
                    <a:bodyPr/>
                    <a:lstStyle/>
                    <a:p>
                      <a:pPr algn="ctr"/>
                      <a:r>
                        <a:rPr sz="1150" b="0">
                          <a:solidFill>
                            <a:srgbClr val="444A52"/>
                          </a:solidFill>
                          <a:latin typeface="Calibri"/>
                        </a:rPr>
                        <a:t>Mejora real pero marginal: +0,6 % de QWK por 2× de cómputo.</a:t>
                      </a:r>
                    </a:p>
                  </a:txBody>
                  <a:tcPr anchor="ctr" marL="82296" marR="82296">
                    <a:solidFill>
                      <a:srgbClr val="FFFFFF"/>
                    </a:solidFill>
                  </a:tcPr>
                </a:tc>
              </a:tr>
              <a:tr h="329184">
                <a:tc>
                  <a:txBody>
                    <a:bodyPr/>
                    <a:lstStyle/>
                    <a:p>
                      <a:pPr algn="l"/>
                      <a:r>
                        <a:rPr sz="1150" b="0">
                          <a:solidFill>
                            <a:srgbClr val="444A52"/>
                          </a:solidFill>
                          <a:latin typeface="Calibri"/>
                        </a:rPr>
                        <a:t>ViT-Hybrid R26+S/32</a:t>
                      </a:r>
                    </a:p>
                  </a:txBody>
                  <a:tcPr anchor="ctr" marL="82296" marR="82296">
                    <a:solidFill>
                      <a:srgbClr val="F6F7F4"/>
                    </a:solidFill>
                  </a:tcPr>
                </a:tc>
                <a:tc>
                  <a:txBody>
                    <a:bodyPr/>
                    <a:lstStyle/>
                    <a:p>
                      <a:pPr algn="ctr"/>
                      <a:r>
                        <a:rPr sz="1150" b="0">
                          <a:solidFill>
                            <a:srgbClr val="444A52"/>
                          </a:solidFill>
                          <a:latin typeface="Calibri"/>
                        </a:rPr>
                        <a:t>0.9411</a:t>
                      </a:r>
                    </a:p>
                  </a:txBody>
                  <a:tcPr anchor="ctr" marL="82296" marR="82296">
                    <a:solidFill>
                      <a:srgbClr val="F6F7F4"/>
                    </a:solidFill>
                  </a:tcPr>
                </a:tc>
                <a:tc>
                  <a:txBody>
                    <a:bodyPr/>
                    <a:lstStyle/>
                    <a:p>
                      <a:pPr algn="ctr"/>
                      <a:r>
                        <a:rPr sz="1150" b="0">
                          <a:solidFill>
                            <a:srgbClr val="444A52"/>
                          </a:solidFill>
                          <a:latin typeface="Calibri"/>
                        </a:rPr>
                        <a:t>+0.0055</a:t>
                      </a:r>
                    </a:p>
                  </a:txBody>
                  <a:tcPr anchor="ctr" marL="82296" marR="82296">
                    <a:solidFill>
                      <a:srgbClr val="F6F7F4"/>
                    </a:solidFill>
                  </a:tcPr>
                </a:tc>
                <a:tc>
                  <a:txBody>
                    <a:bodyPr/>
                    <a:lstStyle/>
                    <a:p>
                      <a:pPr algn="ctr"/>
                      <a:r>
                        <a:rPr sz="1150" b="0">
                          <a:solidFill>
                            <a:srgbClr val="444A52"/>
                          </a:solidFill>
                          <a:latin typeface="Calibri"/>
                        </a:rPr>
                        <a:t>6.88</a:t>
                      </a:r>
                    </a:p>
                  </a:txBody>
                  <a:tcPr anchor="ctr" marL="82296" marR="82296">
                    <a:solidFill>
                      <a:srgbClr val="F6F7F4"/>
                    </a:solidFill>
                  </a:tcPr>
                </a:tc>
                <a:tc>
                  <a:txBody>
                    <a:bodyPr/>
                    <a:lstStyle/>
                    <a:p>
                      <a:pPr algn="ctr"/>
                      <a:r>
                        <a:rPr sz="1150" b="0">
                          <a:solidFill>
                            <a:srgbClr val="444A52"/>
                          </a:solidFill>
                          <a:latin typeface="Calibri"/>
                        </a:rPr>
                        <a:t>0.84×</a:t>
                      </a:r>
                    </a:p>
                  </a:txBody>
                  <a:tcPr anchor="ctr" marL="82296" marR="82296">
                    <a:solidFill>
                      <a:srgbClr val="F6F7F4"/>
                    </a:solidFill>
                  </a:tcPr>
                </a:tc>
                <a:tc>
                  <a:txBody>
                    <a:bodyPr/>
                    <a:lstStyle/>
                    <a:p>
                      <a:pPr algn="ctr"/>
                      <a:r>
                        <a:rPr sz="1150" b="0">
                          <a:solidFill>
                            <a:srgbClr val="444A52"/>
                          </a:solidFill>
                          <a:latin typeface="Calibri"/>
                        </a:rPr>
                        <a:t>Mejor QWK y 16 % más barato, pero con ventaja de ImageNet-21k.</a:t>
                      </a:r>
                    </a:p>
                  </a:txBody>
                  <a:tcPr anchor="ctr" marL="82296" marR="82296">
                    <a:solidFill>
                      <a:srgbClr val="F6F7F4"/>
                    </a:solidFill>
                  </a:tcPr>
                </a:tc>
              </a:tr>
            </a:tbl>
          </a:graphicData>
        </a:graphic>
      </p:graphicFrame>
      <p:sp>
        <p:nvSpPr>
          <p:cNvPr id="6" name="TextBox 5"/>
          <p:cNvSpPr txBox="1"/>
          <p:nvPr/>
        </p:nvSpPr>
        <p:spPr>
          <a:xfrm>
            <a:off x="640080" y="3913632"/>
            <a:ext cx="10881360" cy="4206240"/>
          </a:xfrm>
          <a:prstGeom prst="rect">
            <a:avLst/>
          </a:prstGeom>
          <a:noFill/>
        </p:spPr>
        <p:txBody>
          <a:bodyPr wrap="square">
            <a:spAutoFit/>
          </a:bodyPr>
          <a:lstStyle/>
          <a:p>
            <a:pPr>
              <a:spcAft>
                <a:spcPts val="1300"/>
              </a:spcAft>
            </a:pPr>
            <a:r>
              <a:rPr sz="1500" b="1">
                <a:solidFill>
                  <a:srgbClr val="8FB339"/>
                </a:solidFill>
              </a:rPr>
              <a:t>▪  </a:t>
            </a:r>
            <a:r>
              <a:rPr sz="1500" b="1">
                <a:solidFill>
                  <a:srgbClr val="444A52"/>
                </a:solidFill>
              </a:rPr>
              <a:t>El criterio no es el QWK máximo, es el QWK por unidad de cómputo.</a:t>
            </a:r>
          </a:p>
          <a:p>
            <a:pPr>
              <a:spcAft>
                <a:spcPts val="1300"/>
              </a:spcAft>
            </a:pPr>
            <a:r>
              <a:rPr sz="1500" b="1">
                <a:solidFill>
                  <a:srgbClr val="8FB339"/>
                </a:solidFill>
              </a:rPr>
              <a:t>▪  </a:t>
            </a:r>
            <a:r>
              <a:rPr sz="1500" b="0">
                <a:solidFill>
                  <a:srgbClr val="444A52"/>
                </a:solidFill>
              </a:rPr>
              <a:t>En un packing la inferencia corre sobre miles de frutas por hora, probablemente en un equipo sin GPU dedicada.</a:t>
            </a:r>
          </a:p>
          <a:p>
            <a:pPr>
              <a:spcAft>
                <a:spcPts val="1300"/>
              </a:spcAft>
            </a:pPr>
            <a:r>
              <a:rPr sz="1500" b="1">
                <a:solidFill>
                  <a:srgbClr val="8FB339"/>
                </a:solidFill>
              </a:rPr>
              <a:t>▪  </a:t>
            </a:r>
            <a:r>
              <a:rPr sz="1500" b="0">
                <a:solidFill>
                  <a:srgbClr val="444A52"/>
                </a:solidFill>
              </a:rPr>
              <a:t>Una diferencia de QWK que no es estadísticamente significativa no justifica duplicar el cómputo: si los intervalos se solapan, gana el modelo más barato.</a:t>
            </a:r>
          </a:p>
          <a:p>
            <a:pPr>
              <a:spcAft>
                <a:spcPts val="1300"/>
              </a:spcAft>
            </a:pPr>
            <a:r>
              <a:rPr sz="1500" b="1">
                <a:solidFill>
                  <a:srgbClr val="8FB339"/>
                </a:solidFill>
              </a:rPr>
              <a:t>▪  </a:t>
            </a:r>
            <a:r>
              <a:rPr sz="1500" b="0">
                <a:solidFill>
                  <a:srgbClr val="444A52"/>
                </a:solidFill>
              </a:rPr>
              <a:t>Con accuracy ±1 clase por sobre el 99 %, el error residual está dentro del ruido de etiquetado humano. Optimizar más el modelo no es donde está el retorno; cerrar el domain gap sí.</a:t>
            </a:r>
          </a:p>
        </p:txBody>
      </p:sp>
      <p:sp>
        <p:nvSpPr>
          <p:cNvPr id="7" name="TextBox 6"/>
          <p:cNvSpPr txBox="1"/>
          <p:nvPr/>
        </p:nvSpPr>
        <p:spPr>
          <a:xfrm>
            <a:off x="11140135" y="6355080"/>
            <a:ext cx="640080" cy="320040"/>
          </a:xfrm>
          <a:prstGeom prst="rect">
            <a:avLst/>
          </a:prstGeom>
          <a:noFill/>
        </p:spPr>
        <p:txBody>
          <a:bodyPr wrap="square" anchor="t">
            <a:spAutoFit/>
          </a:bodyPr>
          <a:lstStyle/>
          <a:p>
            <a:pPr algn="r"/>
            <a:r>
              <a:rPr sz="1100" b="0">
                <a:solidFill>
                  <a:srgbClr val="8A9098"/>
                </a:solidFill>
                <a:latin typeface="Calibri"/>
              </a:rPr>
              <a:t>11/13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972800" cy="685800"/>
          </a:xfrm>
          <a:prstGeom prst="rect">
            <a:avLst/>
          </a:prstGeom>
          <a:noFill/>
        </p:spPr>
        <p:txBody>
          <a:bodyPr wrap="square" anchor="t">
            <a:spAutoFit/>
          </a:bodyPr>
          <a:lstStyle/>
          <a:p>
            <a:pPr algn="l"/>
            <a:r>
              <a:rPr sz="3000" b="1">
                <a:solidFill>
                  <a:srgbClr val="2E6B2F"/>
                </a:solidFill>
                <a:latin typeface="Calibri"/>
              </a:rPr>
              <a:t>Demo</a:t>
            </a:r>
          </a:p>
        </p:txBody>
      </p:sp>
      <p:sp>
        <p:nvSpPr>
          <p:cNvPr id="3" name="TextBox 2"/>
          <p:cNvSpPr txBox="1"/>
          <p:nvPr/>
        </p:nvSpPr>
        <p:spPr>
          <a:xfrm>
            <a:off x="640080" y="1078992"/>
            <a:ext cx="10972800" cy="457200"/>
          </a:xfrm>
          <a:prstGeom prst="rect">
            <a:avLst/>
          </a:prstGeom>
          <a:noFill/>
        </p:spPr>
        <p:txBody>
          <a:bodyPr wrap="square" anchor="t">
            <a:spAutoFit/>
          </a:bodyPr>
          <a:lstStyle/>
          <a:p>
            <a:pPr algn="l"/>
            <a:r>
              <a:rPr sz="1500" b="0">
                <a:solidFill>
                  <a:srgbClr val="8A9098"/>
                </a:solidFill>
                <a:latin typeface="Calibri"/>
              </a:rPr>
              <a:t>Gradio · casos nuevos del conjunto de test</a:t>
            </a:r>
          </a:p>
        </p:txBody>
      </p:sp>
      <p:sp>
        <p:nvSpPr>
          <p:cNvPr id="4" name="Rectangle 3"/>
          <p:cNvSpPr/>
          <p:nvPr/>
        </p:nvSpPr>
        <p:spPr>
          <a:xfrm>
            <a:off x="640080" y="1024128"/>
            <a:ext cx="1371600" cy="32004"/>
          </a:xfrm>
          <a:prstGeom prst="rect">
            <a:avLst/>
          </a:prstGeom>
          <a:solidFill>
            <a:srgbClr val="8FB3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27632"/>
            <a:ext cx="10881360" cy="4206240"/>
          </a:xfrm>
          <a:prstGeom prst="rect">
            <a:avLst/>
          </a:prstGeom>
          <a:noFill/>
        </p:spPr>
        <p:txBody>
          <a:bodyPr wrap="square">
            <a:spAutoFit/>
          </a:bodyPr>
          <a:lstStyle/>
          <a:p>
            <a:pPr>
              <a:spcAft>
                <a:spcPts val="1300"/>
              </a:spcAft>
            </a:pPr>
            <a:r>
              <a:rPr sz="1600" b="1">
                <a:solidFill>
                  <a:srgbClr val="8FB339"/>
                </a:solidFill>
              </a:rPr>
              <a:t>▪  </a:t>
            </a:r>
            <a:r>
              <a:rPr sz="1600" b="1">
                <a:solidFill>
                  <a:srgbClr val="444A52"/>
                </a:solidFill>
              </a:rPr>
              <a:t>Selección de modelo, distribución de probabilidad sobre las 5 clases y recomendación operativa.</a:t>
            </a:r>
          </a:p>
          <a:p>
            <a:pPr>
              <a:spcAft>
                <a:spcPts val="1300"/>
              </a:spcAft>
            </a:pPr>
            <a:r>
              <a:rPr sz="1600" b="1">
                <a:solidFill>
                  <a:srgbClr val="8FB339"/>
                </a:solidFill>
              </a:rPr>
              <a:t>▪  </a:t>
            </a:r>
            <a:r>
              <a:rPr sz="1600" b="0">
                <a:solidFill>
                  <a:srgbClr val="444A52"/>
                </a:solidFill>
              </a:rPr>
              <a:t>Muestra además el mapa de atención del modelo: la demo no es una caja negra.</a:t>
            </a:r>
          </a:p>
          <a:p>
            <a:pPr>
              <a:spcAft>
                <a:spcPts val="1300"/>
              </a:spcAft>
            </a:pPr>
            <a:r>
              <a:rPr sz="1600" b="1">
                <a:solidFill>
                  <a:srgbClr val="8FB339"/>
                </a:solidFill>
              </a:rPr>
              <a:t>▪  </a:t>
            </a:r>
            <a:r>
              <a:rPr sz="1600" b="0">
                <a:solidFill>
                  <a:srgbClr val="444A52"/>
                </a:solidFill>
              </a:rPr>
              <a:t>Reporta el índice esperado (promedio ponderado), más informativo que el argmax cuando el modelo duda entre estados adyacentes, que es el caso frecuente.</a:t>
            </a:r>
          </a:p>
          <a:p>
            <a:pPr>
              <a:spcAft>
                <a:spcPts val="1300"/>
              </a:spcAft>
            </a:pPr>
            <a:r>
              <a:rPr sz="1600" b="1">
                <a:solidFill>
                  <a:srgbClr val="8FB339"/>
                </a:solidFill>
              </a:rPr>
              <a:t>▪  </a:t>
            </a:r>
            <a:r>
              <a:rPr sz="1600" b="0">
                <a:solidFill>
                  <a:srgbClr val="444A52"/>
                </a:solidFill>
              </a:rPr>
              <a:t>Avisa explícitamente cuando la confianza es baja y conviene revisión humana.</a:t>
            </a:r>
          </a:p>
          <a:p>
            <a:pPr>
              <a:spcAft>
                <a:spcPts val="1300"/>
              </a:spcAft>
            </a:pPr>
            <a:r>
              <a:rPr sz="1600" b="1">
                <a:solidFill>
                  <a:srgbClr val="8FB339"/>
                </a:solidFill>
              </a:rPr>
              <a:t>▪  </a:t>
            </a:r>
            <a:r>
              <a:rPr sz="1600" b="1">
                <a:solidFill>
                  <a:srgbClr val="444A52"/>
                </a:solidFill>
              </a:rPr>
              <a:t>Los ejemplos precargados salen solo del conjunto de test: son frutas que ningún modelo vio durante el entrenamiento.</a:t>
            </a:r>
          </a:p>
          <a:p>
            <a:pPr>
              <a:spcAft>
                <a:spcPts val="1300"/>
              </a:spcAft>
            </a:pPr>
            <a:r>
              <a:rPr sz="1600" b="1">
                <a:solidFill>
                  <a:srgbClr val="8FB339"/>
                </a:solidFill>
              </a:rPr>
              <a:t>▪  </a:t>
            </a:r>
            <a:r>
              <a:rPr sz="1600" b="0">
                <a:solidFill>
                  <a:srgbClr val="444A52"/>
                </a:solidFill>
              </a:rPr>
              <a:t>Advierte en pantalla sobre el domain gap: fue entrenado con fotos de laboratorio.</a:t>
            </a:r>
          </a:p>
        </p:txBody>
      </p:sp>
      <p:sp>
        <p:nvSpPr>
          <p:cNvPr id="6" name="Rectangle 5"/>
          <p:cNvSpPr/>
          <p:nvPr/>
        </p:nvSpPr>
        <p:spPr>
          <a:xfrm>
            <a:off x="640080" y="6144768"/>
            <a:ext cx="45720" cy="384048"/>
          </a:xfrm>
          <a:prstGeom prst="rect">
            <a:avLst/>
          </a:prstGeom>
          <a:solidFill>
            <a:srgbClr val="8FB3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6126480"/>
            <a:ext cx="10698480" cy="457200"/>
          </a:xfrm>
          <a:prstGeom prst="rect">
            <a:avLst/>
          </a:prstGeom>
          <a:noFill/>
        </p:spPr>
        <p:txBody>
          <a:bodyPr wrap="square" anchor="ctr">
            <a:spAutoFit/>
          </a:bodyPr>
          <a:lstStyle/>
          <a:p>
            <a:pPr algn="l"/>
            <a:r>
              <a:rPr sz="1300" b="0">
                <a:solidFill>
                  <a:srgbClr val="8A9098"/>
                </a:solidFill>
                <a:latin typeface="Calibri"/>
              </a:rPr>
              <a:t>python app/gradio_app.py  →  http://localhost:7860</a:t>
            </a:r>
          </a:p>
        </p:txBody>
      </p:sp>
      <p:sp>
        <p:nvSpPr>
          <p:cNvPr id="8" name="TextBox 7"/>
          <p:cNvSpPr txBox="1"/>
          <p:nvPr/>
        </p:nvSpPr>
        <p:spPr>
          <a:xfrm>
            <a:off x="11140135" y="6355080"/>
            <a:ext cx="640080" cy="320040"/>
          </a:xfrm>
          <a:prstGeom prst="rect">
            <a:avLst/>
          </a:prstGeom>
          <a:noFill/>
        </p:spPr>
        <p:txBody>
          <a:bodyPr wrap="square" anchor="t">
            <a:spAutoFit/>
          </a:bodyPr>
          <a:lstStyle/>
          <a:p>
            <a:pPr algn="r"/>
            <a:r>
              <a:rPr sz="1100" b="0">
                <a:solidFill>
                  <a:srgbClr val="8A9098"/>
                </a:solidFill>
                <a:latin typeface="Calibri"/>
              </a:rPr>
              <a:t>12/13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972800" cy="685800"/>
          </a:xfrm>
          <a:prstGeom prst="rect">
            <a:avLst/>
          </a:prstGeom>
          <a:noFill/>
        </p:spPr>
        <p:txBody>
          <a:bodyPr wrap="square" anchor="t">
            <a:spAutoFit/>
          </a:bodyPr>
          <a:lstStyle/>
          <a:p>
            <a:pPr algn="l"/>
            <a:r>
              <a:rPr sz="3000" b="1">
                <a:solidFill>
                  <a:srgbClr val="2E6B2F"/>
                </a:solidFill>
                <a:latin typeface="Calibri"/>
              </a:rPr>
              <a:t>Conclusiones y trabajo futuro</a:t>
            </a:r>
          </a:p>
        </p:txBody>
      </p:sp>
      <p:sp>
        <p:nvSpPr>
          <p:cNvPr id="3" name="Rectangle 2"/>
          <p:cNvSpPr/>
          <p:nvPr/>
        </p:nvSpPr>
        <p:spPr>
          <a:xfrm>
            <a:off x="640080" y="1024128"/>
            <a:ext cx="1371600" cy="32004"/>
          </a:xfrm>
          <a:prstGeom prst="rect">
            <a:avLst/>
          </a:prstGeom>
          <a:solidFill>
            <a:srgbClr val="8FB3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70432"/>
            <a:ext cx="10881360" cy="4206240"/>
          </a:xfrm>
          <a:prstGeom prst="rect">
            <a:avLst/>
          </a:prstGeom>
          <a:noFill/>
        </p:spPr>
        <p:txBody>
          <a:bodyPr wrap="square">
            <a:spAutoFit/>
          </a:bodyPr>
          <a:lstStyle/>
          <a:p>
            <a:pPr>
              <a:spcAft>
                <a:spcPts val="1300"/>
              </a:spcAft>
            </a:pPr>
            <a:r>
              <a:rPr sz="1500" b="1">
                <a:solidFill>
                  <a:srgbClr val="8FB339"/>
                </a:solidFill>
              </a:rPr>
              <a:t>▪  </a:t>
            </a:r>
            <a:r>
              <a:rPr sz="1500" b="1">
                <a:solidFill>
                  <a:srgbClr val="444A52"/>
                </a:solidFill>
              </a:rPr>
              <a:t>Con presupuesto equiparado y pre-entrenamiento equiparado, las dos arquitecturas resuelven esta tarea a un nivel comparable.</a:t>
            </a:r>
          </a:p>
          <a:p>
            <a:pPr>
              <a:spcAft>
                <a:spcPts val="1300"/>
              </a:spcAft>
            </a:pPr>
            <a:r>
              <a:rPr sz="1500" b="1">
                <a:solidFill>
                  <a:srgbClr val="8FB339"/>
                </a:solidFill>
              </a:rPr>
              <a:t>▪  </a:t>
            </a:r>
            <a:r>
              <a:rPr sz="1500" b="0">
                <a:solidFill>
                  <a:srgbClr val="444A52"/>
                </a:solidFill>
              </a:rPr>
              <a:t>La diferencia relevante no está entre CNN y transformer, sino entre tener o no tener pre-entrenamiento: ahí sí se separan, y se separan de forma asimétrica.</a:t>
            </a:r>
          </a:p>
          <a:p>
            <a:pPr>
              <a:spcAft>
                <a:spcPts val="1300"/>
              </a:spcAft>
            </a:pPr>
            <a:r>
              <a:rPr sz="1500" b="1">
                <a:solidFill>
                  <a:srgbClr val="8FB339"/>
                </a:solidFill>
              </a:rPr>
              <a:t>▪  </a:t>
            </a:r>
            <a:r>
              <a:rPr sz="1500" b="1">
                <a:solidFill>
                  <a:srgbClr val="444A52"/>
                </a:solidFill>
              </a:rPr>
              <a:t>El techo de esta tarea lo pone el etiquetado, no la arquitectura.</a:t>
            </a:r>
          </a:p>
          <a:p>
            <a:pPr>
              <a:spcAft>
                <a:spcPts val="1300"/>
              </a:spcAft>
            </a:pPr>
            <a:r>
              <a:rPr sz="1500" b="1">
                <a:solidFill>
                  <a:srgbClr val="8FB339"/>
                </a:solidFill>
              </a:rPr>
              <a:t>▪  </a:t>
            </a:r>
            <a:r>
              <a:rPr sz="1500" b="0">
                <a:solidFill>
                  <a:srgbClr val="444A52"/>
                </a:solidFill>
              </a:rPr>
              <a:t>Sin acuerdo inter-evaluador reportado no sabemos cuánto del error residual es del modelo y cuánto es ruido de la etiqueta.</a:t>
            </a:r>
          </a:p>
          <a:p>
            <a:pPr>
              <a:spcAft>
                <a:spcPts val="1300"/>
              </a:spcAft>
            </a:pPr>
            <a:r>
              <a:rPr sz="1500" b="1">
                <a:solidFill>
                  <a:srgbClr val="8FB339"/>
                </a:solidFill>
              </a:rPr>
              <a:t>▪  </a:t>
            </a:r>
            <a:r>
              <a:rPr sz="1500" b="1">
                <a:solidFill>
                  <a:srgbClr val="444A52"/>
                </a:solidFill>
              </a:rPr>
              <a:t>Trabajo futuro, en orden de retorno esperado:</a:t>
            </a:r>
          </a:p>
          <a:p>
            <a:pPr>
              <a:spcAft>
                <a:spcPts val="1300"/>
              </a:spcAft>
            </a:pPr>
            <a:r>
              <a:rPr sz="1500" b="1">
                <a:solidFill>
                  <a:srgbClr val="8FB339"/>
                </a:solidFill>
              </a:rPr>
              <a:t>▪  </a:t>
            </a:r>
            <a:r>
              <a:rPr sz="1500" b="0">
                <a:solidFill>
                  <a:srgbClr val="444A52"/>
                </a:solidFill>
              </a:rPr>
              <a:t>1) Recolectar fotos de celular en condiciones reales chilenas y medir la caída. 2) Pérdida ordinal explícita (CORAL) en vez de entropía cruzada plana. 3) Predicción de vida útil restante en días, que es la pregunta que de verdad importa en la cadena de frío.</a:t>
            </a:r>
          </a:p>
        </p:txBody>
      </p:sp>
      <p:sp>
        <p:nvSpPr>
          <p:cNvPr id="5" name="Rectangle 4"/>
          <p:cNvSpPr/>
          <p:nvPr/>
        </p:nvSpPr>
        <p:spPr>
          <a:xfrm>
            <a:off x="640080" y="6144768"/>
            <a:ext cx="45720" cy="384048"/>
          </a:xfrm>
          <a:prstGeom prst="rect">
            <a:avLst/>
          </a:prstGeom>
          <a:solidFill>
            <a:srgbClr val="8FB3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6126480"/>
            <a:ext cx="10698480" cy="457200"/>
          </a:xfrm>
          <a:prstGeom prst="rect">
            <a:avLst/>
          </a:prstGeom>
          <a:noFill/>
        </p:spPr>
        <p:txBody>
          <a:bodyPr wrap="square" anchor="ctr">
            <a:spAutoFit/>
          </a:bodyPr>
          <a:lstStyle/>
          <a:p>
            <a:pPr algn="l"/>
            <a:r>
              <a:rPr sz="1300" b="0">
                <a:solidFill>
                  <a:srgbClr val="8A9098"/>
                </a:solidFill>
                <a:latin typeface="Calibri"/>
              </a:rPr>
              <a:t>github.com/cmartinez1524/clasificacion-de-paltas</a:t>
            </a:r>
          </a:p>
        </p:txBody>
      </p:sp>
      <p:sp>
        <p:nvSpPr>
          <p:cNvPr id="7" name="TextBox 6"/>
          <p:cNvSpPr txBox="1"/>
          <p:nvPr/>
        </p:nvSpPr>
        <p:spPr>
          <a:xfrm>
            <a:off x="11140135" y="6355080"/>
            <a:ext cx="640080" cy="320040"/>
          </a:xfrm>
          <a:prstGeom prst="rect">
            <a:avLst/>
          </a:prstGeom>
          <a:noFill/>
        </p:spPr>
        <p:txBody>
          <a:bodyPr wrap="square" anchor="t">
            <a:spAutoFit/>
          </a:bodyPr>
          <a:lstStyle/>
          <a:p>
            <a:pPr algn="r"/>
            <a:r>
              <a:rPr sz="1100" b="0">
                <a:solidFill>
                  <a:srgbClr val="8A9098"/>
                </a:solidFill>
                <a:latin typeface="Calibri"/>
              </a:rPr>
              <a:t>13/13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